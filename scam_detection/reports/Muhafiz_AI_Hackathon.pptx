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3" r:id="rId6"/>
    <p:sldId id="260" r:id="rId7"/>
    <p:sldId id="261" r:id="rId8"/>
    <p:sldId id="275" r:id="rId9"/>
    <p:sldId id="263" r:id="rId10"/>
    <p:sldId id="264" r:id="rId11"/>
    <p:sldId id="274" r:id="rId12"/>
    <p:sldId id="265" r:id="rId13"/>
    <p:sldId id="268" r:id="rId14"/>
    <p:sldId id="269" r:id="rId15"/>
    <p:sldId id="267" r:id="rId16"/>
    <p:sldId id="266"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192" y="64"/>
      </p:cViewPr>
      <p:guideLst/>
    </p:cSldViewPr>
  </p:slideViewPr>
  <p:notesTextViewPr>
    <p:cViewPr>
      <p:scale>
        <a:sx n="1" d="1"/>
        <a:sy n="1" d="1"/>
      </p:scale>
      <p:origin x="0" y="0"/>
    </p:cViewPr>
  </p:notesTextViewPr>
  <p:sorterViewPr>
    <p:cViewPr>
      <p:scale>
        <a:sx n="100" d="100"/>
        <a:sy n="100" d="100"/>
      </p:scale>
      <p:origin x="0" y="-35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12294E"/>
            </a:solidFill>
            <a:effectLst/>
          </c:spPr>
          <c:invertIfNegative val="0"/>
          <c:dLbls>
            <c:numFmt formatCode="0.0&quot;%&quot;" sourceLinked="0"/>
            <c:spPr>
              <a:noFill/>
              <a:ln>
                <a:noFill/>
              </a:ln>
              <a:effectLst/>
            </c:spPr>
            <c:txPr>
              <a:bodyPr/>
              <a:lstStyle/>
              <a:p>
                <a:pPr>
                  <a:defRPr sz="1000" b="0" i="0" u="none" strike="noStrike">
                    <a:solidFill>
                      <a:srgbClr val="1229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Adversarial
(505)</c:v>
                </c:pt>
                <c:pt idx="1">
                  <c:v>Fresh Holdout
(100)</c:v>
                </c:pt>
                <c:pt idx="2">
                  <c:v>Blind Test
(50)</c:v>
                </c:pt>
                <c:pt idx="3">
                  <c:v>Hard Test V4
(56)</c:v>
                </c:pt>
                <c:pt idx="4">
                  <c:v>BISP Diagnostic
(10)</c:v>
                </c:pt>
                <c:pt idx="5">
                  <c:v>All-4 External
(318)</c:v>
                </c:pt>
                <c:pt idx="6">
                  <c:v>Real-World
(43)</c:v>
                </c:pt>
              </c:strCache>
            </c:strRef>
          </c:cat>
          <c:val>
            <c:numRef>
              <c:f>Sheet1!$B$2:$B$8</c:f>
              <c:numCache>
                <c:formatCode>General</c:formatCode>
                <c:ptCount val="7"/>
                <c:pt idx="0">
                  <c:v>99.6</c:v>
                </c:pt>
                <c:pt idx="1">
                  <c:v>94</c:v>
                </c:pt>
                <c:pt idx="2">
                  <c:v>98</c:v>
                </c:pt>
                <c:pt idx="3">
                  <c:v>98.21</c:v>
                </c:pt>
                <c:pt idx="4">
                  <c:v>100</c:v>
                </c:pt>
                <c:pt idx="5">
                  <c:v>97.48</c:v>
                </c:pt>
                <c:pt idx="6">
                  <c:v>93.02</c:v>
                </c:pt>
              </c:numCache>
            </c:numRef>
          </c:val>
          <c:extLst>
            <c:ext xmlns:c16="http://schemas.microsoft.com/office/drawing/2014/chart" uri="{C3380CC4-5D6E-409C-BE32-E72D297353CC}">
              <c16:uniqueId val="{00000000-3803-4AE3-9CAC-8A547110B1D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A2740"/>
                </a:solidFill>
                <a:latin typeface="Arial"/>
              </a:defRPr>
            </a:pPr>
            <a:endParaRPr lang="en-US"/>
          </a:p>
        </c:txPr>
        <c:crossAx val="2094734552"/>
        <c:crosses val="autoZero"/>
        <c:auto val="1"/>
        <c:lblAlgn val="ctr"/>
        <c:lblOffset val="100"/>
        <c:noMultiLvlLbl val="1"/>
      </c:catAx>
      <c:valAx>
        <c:axId val="2094734552"/>
        <c:scaling>
          <c:orientation val="minMax"/>
          <c:max val="102"/>
          <c:min val="85"/>
        </c:scaling>
        <c:delete val="0"/>
        <c:axPos val="l"/>
        <c:majorGridlines>
          <c:spPr>
            <a:ln w="9525" cap="flat">
              <a:solidFill>
                <a:srgbClr val="CADCF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9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2294E"/>
                </a:solidFill>
                <a:latin typeface="Arial"/>
              </a:defRPr>
            </a:pPr>
            <a:r>
              <a:rPr lang="en-US" sz="1200" b="0" i="0" u="none" strike="noStrike">
                <a:solidFill>
                  <a:srgbClr val="12294E"/>
                </a:solidFill>
                <a:latin typeface="Arial"/>
              </a:rPr>
              <a:t>Per-Language Accuracy (505-msg adversarial test)</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2E9E5B"/>
            </a:solidFill>
            <a:effectLst/>
          </c:spPr>
          <c:invertIfNegative val="0"/>
          <c:dLbls>
            <c:numFmt formatCode="0.0&quot;%&quot;" sourceLinked="0"/>
            <c:spPr>
              <a:noFill/>
              <a:ln>
                <a:noFill/>
              </a:ln>
              <a:effectLst/>
            </c:spPr>
            <c:txPr>
              <a:bodyPr/>
              <a:lstStyle/>
              <a:p>
                <a:pPr>
                  <a:defRPr sz="1000" b="0" i="0" u="none" strike="noStrike">
                    <a:solidFill>
                      <a:srgbClr val="1229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English (178)</c:v>
                </c:pt>
                <c:pt idx="1">
                  <c:v>Roman Urdu / Mixed (317)</c:v>
                </c:pt>
                <c:pt idx="2">
                  <c:v>Urdu Script (10)</c:v>
                </c:pt>
              </c:strCache>
            </c:strRef>
          </c:cat>
          <c:val>
            <c:numRef>
              <c:f>Sheet1!$B$2:$B$4</c:f>
              <c:numCache>
                <c:formatCode>General</c:formatCode>
                <c:ptCount val="3"/>
                <c:pt idx="0">
                  <c:v>100</c:v>
                </c:pt>
                <c:pt idx="1">
                  <c:v>99.4</c:v>
                </c:pt>
                <c:pt idx="2">
                  <c:v>100</c:v>
                </c:pt>
              </c:numCache>
            </c:numRef>
          </c:val>
          <c:extLst>
            <c:ext xmlns:c16="http://schemas.microsoft.com/office/drawing/2014/chart" uri="{C3380CC4-5D6E-409C-BE32-E72D297353CC}">
              <c16:uniqueId val="{00000000-5202-4643-9151-2021DE4B77F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2740"/>
                </a:solidFill>
                <a:latin typeface="Arial"/>
              </a:defRPr>
            </a:pPr>
            <a:endParaRPr lang="en-US"/>
          </a:p>
        </c:txPr>
        <c:crossAx val="2094734552"/>
        <c:crosses val="autoZero"/>
        <c:auto val="1"/>
        <c:lblAlgn val="ctr"/>
        <c:lblOffset val="100"/>
        <c:noMultiLvlLbl val="1"/>
      </c:catAx>
      <c:valAx>
        <c:axId val="2094734552"/>
        <c:scaling>
          <c:orientation val="minMax"/>
          <c:max val="101"/>
          <c:min val="95"/>
        </c:scaling>
        <c:delete val="0"/>
        <c:axPos val="l"/>
        <c:majorGridlines>
          <c:spPr>
            <a:ln w="9525" cap="flat">
              <a:solidFill>
                <a:srgbClr val="CADCF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9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890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but not rush. "Hi everyone, we're [team name], and this is Muhafiz AI." Pause. "Muhafiz means guardian in Urdu — and that's exactly the role this system plays for the 190 million-plus mobile connections in Pakistan." Let the title sit on screen for a beat before advancing. This slide's only job is to make the judges curious and to plant the tagline ("in the language Pakistan actually speaks") — you'll return to that idea in the problem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people across Pakistan get messages like 'you've won a lottery, just pay a small fee to claim it' — or fake BISP payment alerts, or bank phishing links. And it's not just texts — callers trick people into reading out their OTP over the phone." Slow down for the next line: "This isn't rare. Pakistan loses billions of rupees a year to this, and it disproportionately hits the elderly, rural communities, and people with less digital experience." Then land the real insight: "Here's the gap nobody's solving: these scams are written in Roman Urdu or Urdu script, and almost every spam filter out there is built for English. It literally cannot read what's being sent to Pakistani phones." Gesture to the 190M number and pause — that's the scale of who's exposed.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Muhafiz — 'guardian' in Urdu. It's a web app with two doors in. Door one: paste a suspicious message, get an instant verdict with a risk score and the specific red flags it found — not just a scary red light, an explanation. Door two: upload or record an actual phone call, because a lot of the worst scams — OTP theft — happen live, over voice, not in text." Then pivot to audience: "This isn't just for tech-savvy users. We built it so a family member can check a message on behalf of a parent, so journalists can track scam campaigns, and so banks, telecoms, or NGOs could eventually embed this directly into their own apps." Keep this slide brisk — the demo is next, and that's where the energy should peak.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actually switch to the live app if you can (or narrate over this slide as backup). "Let me show you. I'm pasting in a real prize-scam message now..." [click / reveal]. "Within milliseconds it flags this as high risk, and shows exactly why — it caught the financial-request language and the prize/lottery pattern." Pause, then: "Now watch this — I'm going to paste something that also mentions money, but isn't a scam." [reveal second card] "And it correctly clears it as safe. That's the real test of a good fraud model — not just catching scams, but NOT crying wolf on ordinary life." If the live demo breaks: stay calm, say "looks like the server's waking up — let me walk you through a recording of this exact flow," and keep moving. Never apologize more than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actually switch to the live app if you can (or narrate over this slide as backup). "Let me show you. I'm pasting in a real prize-scam message now..." [click / reveal]. "Within milliseconds it flags this as high risk, and shows exactly why — it caught the financial-request language and the prize/lottery pattern." Pause, then: "Now watch this — I'm going to paste something that also mentions money, but isn't a scam." [reveal second card] "And it correctly clears it as safe. That's the real test of a good fraud model — not just catching scams, but NOT crying wolf on ordinary life." If the live demo breaks: stay calm, say "looks like the server's waking up — let me walk you through a recording of this exact flow," and keep moving. Never apologize more than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45246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beyond 'cool demo'? The need is simple: people don't have a fast, trustworthy way to check a message before they act on it — in their own language. We built Muhafiz as decision support, not a verdict from God — it explains itself, and it always tells you to verify with the real organization when you're unsure. That transparency is what builds trust with the users who need this most: people who are less digitally confident." Point at the right card: "And critically, this isn't just a hackathon toy — it's cheap enough to run that a bank, telecom, or NGO could realistically deploy it tomorrow."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actually happens under the hood when you paste a message." Walk left to right with the diagram: "First we normalize the text — Roman Urdu spelling is wildly inconsistent, so 'batayen' and 'btaen' need to be recognized as the same word. Then we extract features using TF-IDF — basically turning words and word-fragments into numbers, at both the word level and the character level, which is what catches misspelled or disguised scam words. That feeds a classifier called LinearSVC, which makes the actual scam-or-safe decision. We calibrate that decision into an honest confidence score, and compare it against a tuned threshold — 0.63, not the obvious 50-50 — to produce the final verdict." Land the punchline: "All of that happens in under 10 milliseconds. No GPU, no cloud AI bill per message."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actually happens under the hood when you paste a message." Walk left to right with the diagram: "First we normalize the text — Roman Urdu spelling is wildly inconsistent, so 'batayen' and 'btaen' need to be recognized as the same word. Then we extract features using TF-IDF — basically turning words and word-fragments into numbers, at both the word level and the character level, which is what catches misspelled or disguised scam words. That feeds a classifier called LinearSVC, which makes the actual scam-or-safe decision. We calibrate that decision into an honest confidence score, and compare it against a tuned threshold — 0.63, not the obvious 50-50 — to produce the final verdict." Land the punchline: "All of that happens in under 10 milliseconds. No GPU, no cloud AI bill per message."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87846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ask — why not just use a big transformer model like BERT? We deliberately chose the lighter approach." Walk down the table by outcome, not row-by-row recitation: "It's over ten times faster, it's a fraction of the size, it needs no GPU, and — most importantly for a fraud tool — we can actually explain why it made a decision. That matters when you're asking someone to trust a warning about their own money." Close with the honest line: "This was a deliberate trade-off for a real, deployable product, not a shortcut — and a transformer comparison is explicitly next on our roadmap." This is one of the two things you should be able to say without notes.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these four quickly and confidently — each is a 10-second beat, not an essay. "Four things separate this from a generic filter. One: multilingual normalization built specifically for Roman Urdu spelling chaos. Two: hard-negative mining — we deliberately trained on safe messages that LOOK risky, like real bank alerts, to stop false alarms; that alone cut false positives forty-eight times over. Three: every verdict comes with transparent, plain-English red flags, not just a black-box score. Four: we verified zero overlap between our training and test data, so every number in this deck is earned, not inflated." If a judge later asks 'how do I know your numbers are real' — point back to bullet four.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for a second. Pakistan has over 190 million mobile connections — that's the scale of people this could protect. And because the model is this cheap to run — under 10 milliseconds, no GPU, 3 megabytes — it's not just large enterprises who could deploy this. A regional bank, a mid-size telecom, an NGO helpline — all of them could realistically run this." This is the slide where you connect the technical choices back to the human mission — say it with conviction, this is your closing emotional beat before the roadmap.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19370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test this once and call it done — we ran it against four completely independent test sets the model had never seen. Across the board, accuracy sits between 93 and 100 percent." Point to the All-4 External bar: "The one that matters most is this one — 318 brand-new multilingual messages, mixing English, Roman Urdu, and Urdu script — and we hit 97.48% accuracy. Pause here. This is your other must-know number alongside the TF-IDF answer. If you remember one stat, remember 97.48%.</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for a second. Pakistan has over 190 million mobile connections — that's the scale of people this could protect. And because the model is this cheap to run — under 10 milliseconds, no GPU, 3 megabytes — it's not just large enterprises who could deploy this. A regional bank, a mid-size telecom, an NGO helpline — all of them could realistically run this." This is the slide where you connect the technical choices back to the human mission — say it with conviction, this is your closing emotional beat before the roadmap.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proud that four major pieces are already shipped, not promised — text classification, audio analysis, full multilingual support, and a real deployed web app with a public API. What's next: teaching the model to name the scam category, not just flag it; catching things automatically via SMS interception instead of copy-paste; and benchmarking against transformer models to see if there's a meaningful accuracy gain worth the extra cost." Keep this slide fast — it's a credibility beat, not a deep dive.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isn't a promise here — it's already true." Walk the three cards briefly: "It's fully deployed — real frontend on Vercel, real backend on Render, auto-deploying on every push, with a public API. It has real production behaviors — if the backend goes down, the app tells you honestly instead of faking a result. And there is zero mock data anywhere in this project — every verdict you've seen today came from the live model." If a judge asks 'is this just a demo or could it actually run,' this is the slide you return 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enough to be accurate overall — it has to work in every language people actually use. English: 100%. Urdu script: 100%. Roman Urdu and mixed — the hardest, messiest case — still 99.4%." Then address the skeptical judge before they ask: "We also specifically checked this isn't overfitting — cross-validation accuracy was 99.15%, real held-out test accuracy was 97.33%. Under a 2% gap is considered healthy — this model generalizes, it doesn't memorize." Close with the training data line to show scope: 1,637 messages across 10+ real Pakistani scam categories.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Muhafiz AI — thank you, and we'd love to take your questions." Stand still, smile, look at the judges (not the slide). If a question stumps you, use the three-step move: acknowledge honestly, share what you DO know that's adjacent, then hand off to your teammate if needed. Don't guess at a specific number you're not sure of.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6"/>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B36"/>
          </a:solidFill>
          <a:ln/>
        </p:spPr>
      </p:sp>
      <p:sp>
        <p:nvSpPr>
          <p:cNvPr id="3" name="Shape 1"/>
          <p:cNvSpPr/>
          <p:nvPr/>
        </p:nvSpPr>
        <p:spPr>
          <a:xfrm>
            <a:off x="9464040" y="1005840"/>
            <a:ext cx="2194560" cy="2194560"/>
          </a:xfrm>
          <a:prstGeom prst="line">
            <a:avLst/>
          </a:prstGeom>
          <a:solidFill>
            <a:srgbClr val="12294E"/>
          </a:solidFill>
          <a:ln w="19050">
            <a:solidFill>
              <a:srgbClr val="E0A937"/>
            </a:solidFill>
            <a:prstDash val="solid"/>
          </a:ln>
        </p:spPr>
      </p:sp>
      <p:sp>
        <p:nvSpPr>
          <p:cNvPr id="4" name="Text 2"/>
          <p:cNvSpPr txBox="1"/>
          <p:nvPr/>
        </p:nvSpPr>
        <p:spPr>
          <a:xfrm>
            <a:off x="9464040" y="1005840"/>
            <a:ext cx="2194560" cy="2194560"/>
          </a:xfrm>
          <a:prstGeom prst="rect">
            <a:avLst/>
          </a:prstGeom>
          <a:noFill/>
          <a:ln/>
        </p:spPr>
        <p:txBody>
          <a:bodyPr wrap="square" lIns="0" tIns="0" rIns="0" bIns="0" rtlCol="0" anchor="ctr"/>
          <a:lstStyle/>
          <a:p>
            <a:pPr marL="0" indent="0" algn="ctr">
              <a:buNone/>
            </a:pPr>
            <a:r>
              <a:rPr lang="en-US" sz="6000" b="1" dirty="0">
                <a:solidFill>
                  <a:srgbClr val="E0A937"/>
                </a:solidFill>
                <a:latin typeface="Cambria" pitchFamily="34" charset="0"/>
                <a:ea typeface="Cambria" pitchFamily="34" charset="-122"/>
                <a:cs typeface="Cambria" pitchFamily="34" charset="-120"/>
              </a:rPr>
              <a:t>M</a:t>
            </a:r>
            <a:endParaRPr lang="en-US" sz="6000" dirty="0"/>
          </a:p>
        </p:txBody>
      </p:sp>
      <p:sp>
        <p:nvSpPr>
          <p:cNvPr id="5" name="Text 3"/>
          <p:cNvSpPr txBox="1"/>
          <p:nvPr/>
        </p:nvSpPr>
        <p:spPr>
          <a:xfrm>
            <a:off x="548640" y="1965960"/>
            <a:ext cx="8503920" cy="365760"/>
          </a:xfrm>
          <a:prstGeom prst="rect">
            <a:avLst/>
          </a:prstGeom>
          <a:noFill/>
          <a:ln/>
        </p:spPr>
        <p:txBody>
          <a:bodyPr wrap="square" rtlCol="0" anchor="ctr"/>
          <a:lstStyle/>
          <a:p>
            <a:pPr marL="0" indent="0">
              <a:buNone/>
            </a:pPr>
            <a:r>
              <a:rPr lang="en-US" sz="1300" b="1" kern="0" spc="150" dirty="0">
                <a:solidFill>
                  <a:srgbClr val="E0A937"/>
                </a:solidFill>
                <a:latin typeface="Calibri" pitchFamily="34" charset="0"/>
                <a:ea typeface="Calibri" pitchFamily="34" charset="-122"/>
                <a:cs typeface="Calibri" pitchFamily="34" charset="-120"/>
              </a:rPr>
              <a:t>ALIBABA CLOUD AI HACKATHON PAKISTAN 2026 </a:t>
            </a:r>
            <a:r>
              <a:rPr lang="en-US" sz="1300" b="1" kern="0" spc="150" dirty="0" smtClean="0">
                <a:solidFill>
                  <a:srgbClr val="E0A937"/>
                </a:solidFill>
                <a:latin typeface="Calibri" pitchFamily="34" charset="0"/>
                <a:ea typeface="Calibri" pitchFamily="34" charset="-122"/>
                <a:cs typeface="Calibri" pitchFamily="34" charset="-120"/>
              </a:rPr>
              <a:t>, </a:t>
            </a:r>
            <a:r>
              <a:rPr lang="en-US" sz="1300" b="1" kern="0" spc="150" dirty="0">
                <a:solidFill>
                  <a:srgbClr val="E0A937"/>
                </a:solidFill>
                <a:latin typeface="Calibri" pitchFamily="34" charset="0"/>
                <a:ea typeface="Calibri" pitchFamily="34" charset="-122"/>
                <a:cs typeface="Calibri" pitchFamily="34" charset="-120"/>
              </a:rPr>
              <a:t>KARACHI REGIONAL ROUND</a:t>
            </a:r>
            <a:endParaRPr lang="en-US" sz="1300" dirty="0"/>
          </a:p>
        </p:txBody>
      </p:sp>
      <p:sp>
        <p:nvSpPr>
          <p:cNvPr id="6" name="Text 4"/>
          <p:cNvSpPr txBox="1"/>
          <p:nvPr/>
        </p:nvSpPr>
        <p:spPr>
          <a:xfrm>
            <a:off x="502920" y="2377440"/>
            <a:ext cx="850392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Muhafiz AI</a:t>
            </a:r>
            <a:endParaRPr lang="en-US" sz="6000" dirty="0"/>
          </a:p>
        </p:txBody>
      </p:sp>
      <p:sp>
        <p:nvSpPr>
          <p:cNvPr id="7" name="Text 5"/>
          <p:cNvSpPr txBox="1"/>
          <p:nvPr/>
        </p:nvSpPr>
        <p:spPr>
          <a:xfrm>
            <a:off x="548640" y="3520440"/>
            <a:ext cx="8595360" cy="73152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Guarding 190 Million Phones from Fraud </a:t>
            </a:r>
            <a:r>
              <a:rPr lang="en-US" sz="1800" i="1" dirty="0" smtClean="0">
                <a:solidFill>
                  <a:srgbClr val="CADCFC"/>
                </a:solidFill>
                <a:latin typeface="Calibri" pitchFamily="34" charset="0"/>
                <a:ea typeface="Calibri" pitchFamily="34" charset="-122"/>
                <a:cs typeface="Calibri" pitchFamily="34" charset="-120"/>
              </a:rPr>
              <a:t>, </a:t>
            </a:r>
            <a:r>
              <a:rPr lang="en-US" sz="1800" i="1" dirty="0">
                <a:solidFill>
                  <a:srgbClr val="CADCFC"/>
                </a:solidFill>
                <a:latin typeface="Calibri" pitchFamily="34" charset="0"/>
                <a:ea typeface="Calibri" pitchFamily="34" charset="-122"/>
                <a:cs typeface="Calibri" pitchFamily="34" charset="-120"/>
              </a:rPr>
              <a:t>in the Language Pakistan Actually Speaks</a:t>
            </a:r>
            <a:endParaRPr lang="en-US" sz="1800" dirty="0"/>
          </a:p>
        </p:txBody>
      </p:sp>
      <p:sp>
        <p:nvSpPr>
          <p:cNvPr id="8" name="Shape 6"/>
          <p:cNvSpPr/>
          <p:nvPr/>
        </p:nvSpPr>
        <p:spPr>
          <a:xfrm>
            <a:off x="548640" y="4434840"/>
            <a:ext cx="2926080" cy="0"/>
          </a:xfrm>
          <a:prstGeom prst="line">
            <a:avLst/>
          </a:prstGeom>
          <a:noFill/>
          <a:ln w="25400">
            <a:solidFill>
              <a:srgbClr val="E0A937"/>
            </a:solidFill>
            <a:prstDash val="solid"/>
          </a:ln>
        </p:spPr>
      </p:sp>
      <p:sp>
        <p:nvSpPr>
          <p:cNvPr id="9" name="Text 7"/>
          <p:cNvSpPr txBox="1"/>
          <p:nvPr/>
        </p:nvSpPr>
        <p:spPr>
          <a:xfrm>
            <a:off x="548640" y="4617720"/>
            <a:ext cx="8686800" cy="4572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Real-time scam-message &amp; scam-call detection </a:t>
            </a:r>
            <a:r>
              <a:rPr lang="en-US" sz="1300" dirty="0" smtClean="0">
                <a:solidFill>
                  <a:srgbClr val="CADCFC"/>
                </a:solidFill>
                <a:latin typeface="Calibri" pitchFamily="34" charset="0"/>
                <a:ea typeface="Calibri" pitchFamily="34" charset="-122"/>
                <a:cs typeface="Calibri" pitchFamily="34" charset="-120"/>
              </a:rPr>
              <a:t>, </a:t>
            </a:r>
            <a:r>
              <a:rPr lang="en-US" sz="1300" dirty="0">
                <a:solidFill>
                  <a:srgbClr val="CADCFC"/>
                </a:solidFill>
                <a:latin typeface="Calibri" pitchFamily="34" charset="0"/>
                <a:ea typeface="Calibri" pitchFamily="34" charset="-122"/>
                <a:cs typeface="Calibri" pitchFamily="34" charset="-120"/>
              </a:rPr>
              <a:t>English </a:t>
            </a:r>
            <a:r>
              <a:rPr lang="en-US" sz="1300" dirty="0" smtClean="0">
                <a:solidFill>
                  <a:srgbClr val="CADCFC"/>
                </a:solidFill>
                <a:latin typeface="Calibri" pitchFamily="34" charset="0"/>
                <a:ea typeface="Calibri" pitchFamily="34" charset="-122"/>
                <a:cs typeface="Calibri" pitchFamily="34" charset="-120"/>
              </a:rPr>
              <a:t>, </a:t>
            </a:r>
            <a:r>
              <a:rPr lang="en-US" sz="1300" dirty="0" smtClean="0">
                <a:solidFill>
                  <a:srgbClr val="CADCFC"/>
                </a:solidFill>
                <a:latin typeface="Calibri" pitchFamily="34" charset="0"/>
                <a:ea typeface="Calibri" pitchFamily="34" charset="-122"/>
                <a:cs typeface="Calibri" pitchFamily="34" charset="-120"/>
              </a:rPr>
              <a:t>Roman </a:t>
            </a:r>
            <a:r>
              <a:rPr lang="en-US" sz="1300" dirty="0">
                <a:solidFill>
                  <a:srgbClr val="CADCFC"/>
                </a:solidFill>
                <a:latin typeface="Calibri" pitchFamily="34" charset="0"/>
                <a:ea typeface="Calibri" pitchFamily="34" charset="-122"/>
                <a:cs typeface="Calibri" pitchFamily="34" charset="-120"/>
              </a:rPr>
              <a:t>Urdu </a:t>
            </a:r>
            <a:r>
              <a:rPr lang="en-US" sz="1300" dirty="0" smtClean="0">
                <a:solidFill>
                  <a:srgbClr val="CADCFC"/>
                </a:solidFill>
                <a:latin typeface="Calibri" pitchFamily="34" charset="0"/>
                <a:ea typeface="Calibri" pitchFamily="34" charset="-122"/>
                <a:cs typeface="Calibri" pitchFamily="34" charset="-120"/>
              </a:rPr>
              <a:t>, </a:t>
            </a:r>
            <a:r>
              <a:rPr lang="en-US" sz="1300" dirty="0">
                <a:solidFill>
                  <a:srgbClr val="CADCFC"/>
                </a:solidFill>
                <a:latin typeface="Calibri" pitchFamily="34" charset="0"/>
                <a:ea typeface="Calibri" pitchFamily="34" charset="-122"/>
                <a:cs typeface="Calibri" pitchFamily="34" charset="-120"/>
              </a:rPr>
              <a:t>Urdu script </a:t>
            </a:r>
            <a:r>
              <a:rPr lang="en-US" sz="1300" dirty="0" smtClean="0">
                <a:solidFill>
                  <a:srgbClr val="CADCFC"/>
                </a:solidFill>
                <a:latin typeface="Calibri" pitchFamily="34" charset="0"/>
                <a:ea typeface="Calibri" pitchFamily="34" charset="-122"/>
                <a:cs typeface="Calibri" pitchFamily="34" charset="-120"/>
              </a:rPr>
              <a:t>, </a:t>
            </a:r>
            <a:r>
              <a:rPr lang="en-US" sz="1300" dirty="0">
                <a:solidFill>
                  <a:srgbClr val="CADCFC"/>
                </a:solidFill>
                <a:latin typeface="Calibri" pitchFamily="34" charset="0"/>
                <a:ea typeface="Calibri" pitchFamily="34" charset="-122"/>
                <a:cs typeface="Calibri" pitchFamily="34" charset="-120"/>
              </a:rPr>
              <a:t>Mixed</a:t>
            </a:r>
            <a:endParaRPr lang="en-US" sz="1300" dirty="0"/>
          </a:p>
        </p:txBody>
      </p:sp>
      <p:sp>
        <p:nvSpPr>
          <p:cNvPr id="12" name="Text 9"/>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01</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F0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PROBLEM, AND WHO IT AFFECTS</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Fraud Is Winning Because It Speaks Roman Urdu </a:t>
            </a:r>
            <a:r>
              <a:rPr lang="en-US" sz="2800" b="1" dirty="0" smtClean="0">
                <a:solidFill>
                  <a:srgbClr val="12294E"/>
                </a:solidFill>
                <a:latin typeface="Cambria" pitchFamily="34" charset="0"/>
                <a:ea typeface="Cambria" pitchFamily="34" charset="-122"/>
                <a:cs typeface="Cambria" pitchFamily="34" charset="-120"/>
              </a:rPr>
              <a:t>, </a:t>
            </a:r>
            <a:r>
              <a:rPr lang="en-US" sz="2800" b="1" dirty="0">
                <a:solidFill>
                  <a:srgbClr val="12294E"/>
                </a:solidFill>
                <a:latin typeface="Cambria" pitchFamily="34" charset="0"/>
                <a:ea typeface="Cambria" pitchFamily="34" charset="-122"/>
                <a:cs typeface="Cambria" pitchFamily="34" charset="-120"/>
              </a:rPr>
              <a:t>and We Don't</a:t>
            </a:r>
            <a:endParaRPr lang="en-US" sz="2800" dirty="0"/>
          </a:p>
        </p:txBody>
      </p:sp>
      <p:sp>
        <p:nvSpPr>
          <p:cNvPr id="4" name="Text 2"/>
          <p:cNvSpPr txBox="1"/>
          <p:nvPr/>
        </p:nvSpPr>
        <p:spPr>
          <a:xfrm>
            <a:off x="548640" y="1783080"/>
            <a:ext cx="6035040" cy="4690872"/>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Fake BISP/Ehsaas payment notices, prize-lottery "processing fees," fraudulent overseas job offers, bank phishing links, fake PTA SIM-block threats, and live callers who </a:t>
            </a:r>
            <a:r>
              <a:rPr lang="en-US" sz="1450" dirty="0" smtClean="0">
                <a:solidFill>
                  <a:srgbClr val="1A2740"/>
                </a:solidFill>
                <a:latin typeface="Calibri" pitchFamily="34" charset="0"/>
                <a:ea typeface="Calibri" pitchFamily="34" charset="-122"/>
                <a:cs typeface="Calibri" pitchFamily="34" charset="-120"/>
              </a:rPr>
              <a:t>social engineer </a:t>
            </a:r>
            <a:r>
              <a:rPr lang="en-US" sz="1450" dirty="0">
                <a:solidFill>
                  <a:srgbClr val="1A2740"/>
                </a:solidFill>
                <a:latin typeface="Calibri" pitchFamily="34" charset="0"/>
                <a:ea typeface="Calibri" pitchFamily="34" charset="-122"/>
                <a:cs typeface="Calibri" pitchFamily="34" charset="-120"/>
              </a:rPr>
              <a:t>OTP codes out of victims.</a:t>
            </a:r>
            <a:endParaRPr lang="en-US" sz="1450" dirty="0"/>
          </a:p>
          <a:p>
            <a:pPr marL="228600" indent="-228600">
              <a:spcAft>
                <a:spcPts val="1400"/>
              </a:spcAft>
              <a:buSzPct val="100000"/>
              <a:buChar char="•"/>
            </a:pPr>
            <a:r>
              <a:rPr lang="en-US" sz="1450" b="1" dirty="0">
                <a:solidFill>
                  <a:srgbClr val="1A2740"/>
                </a:solidFill>
                <a:latin typeface="Calibri" pitchFamily="34" charset="0"/>
                <a:ea typeface="Calibri" pitchFamily="34" charset="-122"/>
                <a:cs typeface="Calibri" pitchFamily="34" charset="-120"/>
              </a:rPr>
              <a:t>Pakistan loses billions of rupees a year to phone- and message-based fraud.</a:t>
            </a:r>
            <a:endParaRPr lang="en-US" sz="1450" dirty="0"/>
          </a:p>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The most common victims: the elderly, rural communities, and people with limited digital literacy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exactly the groups least equipped to "just Google it."</a:t>
            </a:r>
            <a:endParaRPr lang="en-US" sz="1450" dirty="0"/>
          </a:p>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The core failure: almost every scam-detection tool on the market is built for English. Most Pakistani scam traffic is in Roman Urdu, Urdu script, or a mix of both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so mainstream filters simply don't read it.</a:t>
            </a:r>
            <a:endParaRPr lang="en-US" sz="1450" dirty="0"/>
          </a:p>
        </p:txBody>
      </p:sp>
      <p:sp>
        <p:nvSpPr>
          <p:cNvPr id="15" name="Text 13"/>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02</a:t>
            </a:r>
            <a:endParaRPr lang="en-US" sz="1000" dirty="0"/>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879" y="1631877"/>
            <a:ext cx="5225143" cy="50056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kern="0" spc="200" dirty="0" smtClean="0">
                <a:solidFill>
                  <a:srgbClr val="12294E"/>
                </a:solidFill>
                <a:latin typeface="Calibri" pitchFamily="34" charset="0"/>
                <a:ea typeface="Calibri" pitchFamily="34" charset="-122"/>
                <a:cs typeface="Calibri" pitchFamily="34" charset="-120"/>
              </a:rPr>
              <a:t>Our</a:t>
            </a:r>
            <a:r>
              <a:rPr lang="en-US" sz="1300" b="1" kern="0" spc="200" dirty="0" smtClean="0">
                <a:solidFill>
                  <a:srgbClr val="12294E"/>
                </a:solidFill>
                <a:latin typeface="Calibri" pitchFamily="34" charset="0"/>
                <a:ea typeface="Calibri" pitchFamily="34" charset="-122"/>
                <a:cs typeface="Calibri" pitchFamily="34" charset="-120"/>
              </a:rPr>
              <a:t> </a:t>
            </a:r>
            <a:r>
              <a:rPr lang="en-US" sz="1300" b="1" kern="0" spc="200" dirty="0">
                <a:solidFill>
                  <a:srgbClr val="12294E"/>
                </a:solidFill>
                <a:latin typeface="Calibri" pitchFamily="34" charset="0"/>
                <a:ea typeface="Calibri" pitchFamily="34" charset="-122"/>
                <a:cs typeface="Calibri" pitchFamily="34" charset="-120"/>
              </a:rPr>
              <a:t>SOLUTION, AND THE AUDIENCE IT SERVES</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One Guardian, Two Ways In: Paste a Message, or Upload a Call</a:t>
            </a:r>
            <a:endParaRPr lang="en-US" sz="2800" dirty="0"/>
          </a:p>
        </p:txBody>
      </p:sp>
      <p:sp>
        <p:nvSpPr>
          <p:cNvPr id="4" name="Shape 2"/>
          <p:cNvSpPr/>
          <p:nvPr/>
        </p:nvSpPr>
        <p:spPr>
          <a:xfrm>
            <a:off x="548640" y="1965960"/>
            <a:ext cx="5394960" cy="2788920"/>
          </a:xfrm>
          <a:prstGeom prst="roundRect">
            <a:avLst>
              <a:gd name="adj" fmla="val 2623"/>
            </a:avLst>
          </a:prstGeom>
          <a:solidFill>
            <a:srgbClr val="E9F0FA"/>
          </a:solidFill>
          <a:ln/>
          <a:effectLst>
            <a:outerShdw blurRad="101600" dist="38100" dir="5400000" algn="bl" rotWithShape="0">
              <a:srgbClr val="1A2740">
                <a:alpha val="18000"/>
              </a:srgbClr>
            </a:outerShdw>
          </a:effectLst>
        </p:spPr>
      </p:sp>
      <p:sp>
        <p:nvSpPr>
          <p:cNvPr id="5" name="Text 3"/>
          <p:cNvSpPr txBox="1"/>
          <p:nvPr/>
        </p:nvSpPr>
        <p:spPr>
          <a:xfrm>
            <a:off x="822960" y="2148840"/>
            <a:ext cx="4846320" cy="365760"/>
          </a:xfrm>
          <a:prstGeom prst="rect">
            <a:avLst/>
          </a:prstGeom>
          <a:noFill/>
          <a:ln/>
        </p:spPr>
        <p:txBody>
          <a:bodyPr wrap="square" lIns="0" tIns="0" rIns="0" bIns="0" rtlCol="0" anchor="ctr"/>
          <a:lstStyle/>
          <a:p>
            <a:pPr marL="0" indent="0">
              <a:buNone/>
            </a:pPr>
            <a:r>
              <a:rPr lang="en-US" sz="1800" b="1" dirty="0">
                <a:solidFill>
                  <a:srgbClr val="12294E"/>
                </a:solidFill>
                <a:latin typeface="Cambria" pitchFamily="34" charset="0"/>
                <a:ea typeface="Cambria" pitchFamily="34" charset="-122"/>
                <a:cs typeface="Cambria" pitchFamily="34" charset="-120"/>
              </a:rPr>
              <a:t>Text Analysis</a:t>
            </a:r>
            <a:endParaRPr lang="en-US" sz="1800" dirty="0"/>
          </a:p>
        </p:txBody>
      </p:sp>
      <p:sp>
        <p:nvSpPr>
          <p:cNvPr id="6" name="Text 4"/>
          <p:cNvSpPr txBox="1"/>
          <p:nvPr/>
        </p:nvSpPr>
        <p:spPr>
          <a:xfrm>
            <a:off x="822960" y="2606040"/>
            <a:ext cx="4846320" cy="201168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Paste any SMS / WhatsApp message</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Instant Scam / Safe verdict + 0–100 risk score</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Detected language shown (EN / Roman Urdu / Urdu / Mixed)</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Transparent red flags, not a black box</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Under 10 milliseconds per message</a:t>
            </a:r>
            <a:endParaRPr lang="en-US" sz="1300" dirty="0"/>
          </a:p>
        </p:txBody>
      </p:sp>
      <p:sp>
        <p:nvSpPr>
          <p:cNvPr id="7" name="Shape 5"/>
          <p:cNvSpPr/>
          <p:nvPr/>
        </p:nvSpPr>
        <p:spPr>
          <a:xfrm>
            <a:off x="6217920" y="1965960"/>
            <a:ext cx="5394960" cy="2788920"/>
          </a:xfrm>
          <a:prstGeom prst="roundRect">
            <a:avLst>
              <a:gd name="adj" fmla="val 2623"/>
            </a:avLst>
          </a:prstGeom>
          <a:solidFill>
            <a:srgbClr val="E9F0FA"/>
          </a:solidFill>
          <a:ln/>
          <a:effectLst>
            <a:outerShdw blurRad="101600" dist="38100" dir="5400000" algn="bl" rotWithShape="0">
              <a:srgbClr val="1A2740">
                <a:alpha val="18000"/>
              </a:srgbClr>
            </a:outerShdw>
          </a:effectLst>
        </p:spPr>
      </p:sp>
      <p:sp>
        <p:nvSpPr>
          <p:cNvPr id="8" name="Text 6"/>
          <p:cNvSpPr txBox="1"/>
          <p:nvPr/>
        </p:nvSpPr>
        <p:spPr>
          <a:xfrm>
            <a:off x="6492240" y="2148840"/>
            <a:ext cx="4846320" cy="365760"/>
          </a:xfrm>
          <a:prstGeom prst="rect">
            <a:avLst/>
          </a:prstGeom>
          <a:noFill/>
          <a:ln/>
        </p:spPr>
        <p:txBody>
          <a:bodyPr wrap="square" lIns="0" tIns="0" rIns="0" bIns="0" rtlCol="0" anchor="ctr"/>
          <a:lstStyle/>
          <a:p>
            <a:pPr marL="0" indent="0">
              <a:buNone/>
            </a:pPr>
            <a:r>
              <a:rPr lang="en-US" sz="1800" b="1" dirty="0">
                <a:solidFill>
                  <a:srgbClr val="12294E"/>
                </a:solidFill>
                <a:latin typeface="Cambria" pitchFamily="34" charset="0"/>
                <a:ea typeface="Cambria" pitchFamily="34" charset="-122"/>
                <a:cs typeface="Cambria" pitchFamily="34" charset="-120"/>
              </a:rPr>
              <a:t>Call Audio Analysis</a:t>
            </a:r>
            <a:endParaRPr lang="en-US" sz="1800" dirty="0"/>
          </a:p>
        </p:txBody>
      </p:sp>
      <p:sp>
        <p:nvSpPr>
          <p:cNvPr id="9" name="Text 7"/>
          <p:cNvSpPr txBox="1"/>
          <p:nvPr/>
        </p:nvSpPr>
        <p:spPr>
          <a:xfrm>
            <a:off x="6492240" y="2606040"/>
            <a:ext cx="4846320" cy="201168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Upload or record a phone call</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Transcribed automatically (local speech-to-text)</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Every segment scored individually</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Call-level High / Medium / Low verdict</a:t>
            </a:r>
            <a:endParaRPr lang="en-US" sz="1300" dirty="0"/>
          </a:p>
          <a:p>
            <a:pPr marL="228600" indent="-228600">
              <a:spcAft>
                <a:spcPts val="800"/>
              </a:spcAft>
              <a:buSzPct val="100000"/>
              <a:buChar char="•"/>
            </a:pPr>
            <a:r>
              <a:rPr lang="en-US" sz="1300" dirty="0">
                <a:solidFill>
                  <a:srgbClr val="1A2740"/>
                </a:solidFill>
                <a:latin typeface="Calibri" pitchFamily="34" charset="0"/>
                <a:ea typeface="Calibri" pitchFamily="34" charset="-122"/>
                <a:cs typeface="Calibri" pitchFamily="34" charset="-120"/>
              </a:rPr>
              <a:t>Catches live OTP social-engineering, not just texts</a:t>
            </a:r>
            <a:endParaRPr lang="en-US" sz="1300" dirty="0"/>
          </a:p>
        </p:txBody>
      </p:sp>
      <p:sp>
        <p:nvSpPr>
          <p:cNvPr id="10" name="Shape 8"/>
          <p:cNvSpPr/>
          <p:nvPr/>
        </p:nvSpPr>
        <p:spPr>
          <a:xfrm>
            <a:off x="548640" y="4937760"/>
            <a:ext cx="11064240" cy="1234440"/>
          </a:xfrm>
          <a:prstGeom prst="roundRect">
            <a:avLst>
              <a:gd name="adj" fmla="val 5926"/>
            </a:avLst>
          </a:prstGeom>
          <a:solidFill>
            <a:srgbClr val="12294E"/>
          </a:solidFill>
          <a:ln/>
        </p:spPr>
      </p:sp>
      <p:sp>
        <p:nvSpPr>
          <p:cNvPr id="11" name="Text 9"/>
          <p:cNvSpPr txBox="1"/>
          <p:nvPr/>
        </p:nvSpPr>
        <p:spPr>
          <a:xfrm>
            <a:off x="822960" y="5056632"/>
            <a:ext cx="2377440" cy="1005840"/>
          </a:xfrm>
          <a:prstGeom prst="rect">
            <a:avLst/>
          </a:prstGeom>
          <a:noFill/>
          <a:ln/>
        </p:spPr>
        <p:txBody>
          <a:bodyPr wrap="square" lIns="0" tIns="0" rIns="0" bIns="0" rtlCol="0" anchor="t"/>
          <a:lstStyle/>
          <a:p>
            <a:pPr marL="0" indent="0">
              <a:buNone/>
            </a:pPr>
            <a:r>
              <a:rPr lang="en-US" sz="1300" b="1" dirty="0">
                <a:solidFill>
                  <a:srgbClr val="E0A937"/>
                </a:solidFill>
                <a:latin typeface="Calibri" pitchFamily="34" charset="0"/>
                <a:ea typeface="Calibri" pitchFamily="34" charset="-122"/>
                <a:cs typeface="Calibri" pitchFamily="34" charset="-120"/>
              </a:rPr>
              <a:t>Who it serves:</a:t>
            </a:r>
            <a:endParaRPr lang="en-US" sz="1300" dirty="0"/>
          </a:p>
        </p:txBody>
      </p:sp>
      <p:sp>
        <p:nvSpPr>
          <p:cNvPr id="12" name="Text 10"/>
          <p:cNvSpPr txBox="1"/>
          <p:nvPr/>
        </p:nvSpPr>
        <p:spPr>
          <a:xfrm>
            <a:off x="3017520" y="5056632"/>
            <a:ext cx="8321040" cy="10058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Everyday phone users double-checking a suspicious text  ·  Families protecting parents &amp; grandparents  ·  Journalists &amp; researchers tracking scam campaigns  ·  Banks, telecoms &amp; NGOs needing an accessible fraud-awareness layer</a:t>
            </a:r>
            <a:endParaRPr lang="en-US" sz="1300" dirty="0"/>
          </a:p>
        </p:txBody>
      </p:sp>
      <p:sp>
        <p:nvSpPr>
          <p:cNvPr id="13" name="Text 11"/>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03</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94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E0A937"/>
                </a:solidFill>
                <a:latin typeface="Calibri" pitchFamily="34" charset="0"/>
                <a:ea typeface="Calibri" pitchFamily="34" charset="-122"/>
                <a:cs typeface="Calibri" pitchFamily="34" charset="-120"/>
              </a:rPr>
              <a:t>SEE IT WORK</a:t>
            </a:r>
            <a:endParaRPr lang="en-US" sz="1300" dirty="0"/>
          </a:p>
        </p:txBody>
      </p:sp>
      <p:sp>
        <p:nvSpPr>
          <p:cNvPr id="3" name="Text 1"/>
          <p:cNvSpPr txBox="1"/>
          <p:nvPr/>
        </p:nvSpPr>
        <p:spPr>
          <a:xfrm>
            <a:off x="548640" y="704088"/>
            <a:ext cx="11064240" cy="82296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Live Demo: Scam Caught. Legitimate Message Cleared.</a:t>
            </a:r>
            <a:endParaRPr lang="en-US" sz="2800" dirty="0"/>
          </a:p>
        </p:txBody>
      </p:sp>
      <p:sp>
        <p:nvSpPr>
          <p:cNvPr id="19" name="Text 17"/>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04</a:t>
            </a:r>
            <a:endParaRPr lang="en-US" sz="1000" dirty="0"/>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990" y="1847088"/>
            <a:ext cx="5217603" cy="4428665"/>
          </a:xfrm>
          <a:prstGeom prst="rect">
            <a:avLst/>
          </a:prstGeom>
        </p:spPr>
      </p:pic>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4284" y="1847088"/>
            <a:ext cx="5458596" cy="44286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294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E0A937"/>
                </a:solidFill>
                <a:latin typeface="Calibri" pitchFamily="34" charset="0"/>
                <a:ea typeface="Calibri" pitchFamily="34" charset="-122"/>
                <a:cs typeface="Calibri" pitchFamily="34" charset="-120"/>
              </a:rPr>
              <a:t>SEE IT WORK</a:t>
            </a:r>
            <a:endParaRPr lang="en-US" sz="1300" dirty="0"/>
          </a:p>
        </p:txBody>
      </p:sp>
      <p:sp>
        <p:nvSpPr>
          <p:cNvPr id="3" name="Text 1"/>
          <p:cNvSpPr txBox="1"/>
          <p:nvPr/>
        </p:nvSpPr>
        <p:spPr>
          <a:xfrm>
            <a:off x="548640" y="704088"/>
            <a:ext cx="11064240" cy="82296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Live Demo: Scam Caught. Legitimate </a:t>
            </a:r>
            <a:r>
              <a:rPr lang="en-US" sz="2800" b="1" dirty="0" smtClean="0">
                <a:solidFill>
                  <a:srgbClr val="FFFFFF"/>
                </a:solidFill>
                <a:latin typeface="Cambria" pitchFamily="34" charset="0"/>
                <a:ea typeface="Cambria" pitchFamily="34" charset="-122"/>
                <a:cs typeface="Cambria" pitchFamily="34" charset="-120"/>
              </a:rPr>
              <a:t>Audio </a:t>
            </a:r>
            <a:r>
              <a:rPr lang="en-US" sz="2800" b="1" dirty="0">
                <a:solidFill>
                  <a:srgbClr val="FFFFFF"/>
                </a:solidFill>
                <a:latin typeface="Cambria" pitchFamily="34" charset="0"/>
                <a:ea typeface="Cambria" pitchFamily="34" charset="-122"/>
                <a:cs typeface="Cambria" pitchFamily="34" charset="-120"/>
              </a:rPr>
              <a:t>Cleared.</a:t>
            </a:r>
            <a:endParaRPr lang="en-US" sz="2800" dirty="0"/>
          </a:p>
        </p:txBody>
      </p:sp>
      <p:sp>
        <p:nvSpPr>
          <p:cNvPr id="19" name="Text 17"/>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04</a:t>
            </a:r>
            <a:endParaRPr lang="en-US" sz="10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1783080"/>
            <a:ext cx="5150031" cy="453607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4664" y="1783080"/>
            <a:ext cx="5094516" cy="4536077"/>
          </a:xfrm>
          <a:prstGeom prst="rect">
            <a:avLst/>
          </a:prstGeom>
        </p:spPr>
      </p:pic>
    </p:spTree>
    <p:extLst>
      <p:ext uri="{BB962C8B-B14F-4D97-AF65-F5344CB8AC3E}">
        <p14:creationId xmlns:p14="http://schemas.microsoft.com/office/powerpoint/2010/main" val="8462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9F0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NEED IT ADDRESSES, AND THE IMPACT IT MAKES</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700" b="1" dirty="0">
                <a:solidFill>
                  <a:srgbClr val="12294E"/>
                </a:solidFill>
                <a:latin typeface="Cambria" pitchFamily="34" charset="0"/>
                <a:ea typeface="Cambria" pitchFamily="34" charset="-122"/>
                <a:cs typeface="Cambria" pitchFamily="34" charset="-120"/>
              </a:rPr>
              <a:t>A Decision-Support Layer for a Country That Texts in Roman Urdu</a:t>
            </a:r>
            <a:endParaRPr lang="en-US" sz="2700" dirty="0"/>
          </a:p>
        </p:txBody>
      </p:sp>
      <p:sp>
        <p:nvSpPr>
          <p:cNvPr id="4" name="Text 2"/>
          <p:cNvSpPr txBox="1"/>
          <p:nvPr/>
        </p:nvSpPr>
        <p:spPr>
          <a:xfrm>
            <a:off x="548640" y="1920240"/>
            <a:ext cx="6035040" cy="420624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The need: people don't have a fast, trustworthy way to check a suspicious message before they act on it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especially not in their own language.</a:t>
            </a:r>
            <a:endParaRPr lang="en-US" sz="1450" dirty="0"/>
          </a:p>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Muhafiz is deliberately positioned as decision support, not a legal authority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it gives an honest second opinion, explains its reasoning in plain language, and always tells the user to verify with the official organization when in doubt.</a:t>
            </a:r>
            <a:endParaRPr lang="en-US" sz="1450" dirty="0"/>
          </a:p>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Because it's transparent (shows the exact red flags, not just a verdict), it builds trust with lower-literacy and elderly users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the group most targeted and least served today.</a:t>
            </a:r>
            <a:endParaRPr lang="en-US" sz="1450" dirty="0"/>
          </a:p>
          <a:p>
            <a:pPr marL="228600" indent="-228600">
              <a:spcAft>
                <a:spcPts val="1400"/>
              </a:spcAft>
              <a:buSzPct val="100000"/>
              <a:buChar char="•"/>
            </a:pPr>
            <a:r>
              <a:rPr lang="en-US" sz="1450" dirty="0">
                <a:solidFill>
                  <a:srgbClr val="1A2740"/>
                </a:solidFill>
                <a:latin typeface="Calibri" pitchFamily="34" charset="0"/>
                <a:ea typeface="Calibri" pitchFamily="34" charset="-122"/>
                <a:cs typeface="Calibri" pitchFamily="34" charset="-120"/>
              </a:rPr>
              <a:t>Because it's cheap and fast to run, it's realistic to embed inside a bank app, a telecom SMS gateway, or an NGO helpline tool </a:t>
            </a:r>
            <a:r>
              <a:rPr lang="en-US" sz="1450" dirty="0" smtClean="0">
                <a:solidFill>
                  <a:srgbClr val="1A2740"/>
                </a:solidFill>
                <a:latin typeface="Calibri" pitchFamily="34" charset="0"/>
                <a:ea typeface="Calibri" pitchFamily="34" charset="-122"/>
                <a:cs typeface="Calibri" pitchFamily="34" charset="-120"/>
              </a:rPr>
              <a:t>, </a:t>
            </a:r>
            <a:r>
              <a:rPr lang="en-US" sz="1450" dirty="0">
                <a:solidFill>
                  <a:srgbClr val="1A2740"/>
                </a:solidFill>
                <a:latin typeface="Calibri" pitchFamily="34" charset="0"/>
                <a:ea typeface="Calibri" pitchFamily="34" charset="-122"/>
                <a:cs typeface="Calibri" pitchFamily="34" charset="-120"/>
              </a:rPr>
              <a:t>not just a hackathon demo.</a:t>
            </a:r>
            <a:endParaRPr lang="en-US" sz="1450" dirty="0"/>
          </a:p>
        </p:txBody>
      </p:sp>
      <p:sp>
        <p:nvSpPr>
          <p:cNvPr id="5" name="Shape 3"/>
          <p:cNvSpPr/>
          <p:nvPr/>
        </p:nvSpPr>
        <p:spPr>
          <a:xfrm>
            <a:off x="6903720" y="1920240"/>
            <a:ext cx="4754880" cy="4206240"/>
          </a:xfrm>
          <a:prstGeom prst="roundRect">
            <a:avLst>
              <a:gd name="adj" fmla="val 1739"/>
            </a:avLst>
          </a:prstGeom>
          <a:solidFill>
            <a:srgbClr val="12294E"/>
          </a:solidFill>
          <a:ln/>
          <a:effectLst>
            <a:outerShdw blurRad="101600" dist="38100" dir="5400000" algn="bl" rotWithShape="0">
              <a:srgbClr val="1A2740">
                <a:alpha val="18000"/>
              </a:srgbClr>
            </a:outerShdw>
          </a:effectLst>
        </p:spPr>
      </p:sp>
      <p:sp>
        <p:nvSpPr>
          <p:cNvPr id="6" name="Text 4"/>
          <p:cNvSpPr txBox="1"/>
          <p:nvPr/>
        </p:nvSpPr>
        <p:spPr>
          <a:xfrm>
            <a:off x="7178040" y="2103120"/>
            <a:ext cx="4206240" cy="548640"/>
          </a:xfrm>
          <a:prstGeom prst="rect">
            <a:avLst/>
          </a:prstGeom>
          <a:noFill/>
          <a:ln/>
        </p:spPr>
        <p:txBody>
          <a:bodyPr wrap="square" lIns="0" tIns="0" rIns="0" bIns="0" rtlCol="0" anchor="ctr"/>
          <a:lstStyle/>
          <a:p>
            <a:pPr marL="0" indent="0">
              <a:buNone/>
            </a:pPr>
            <a:r>
              <a:rPr lang="en-US" sz="1300" b="1" dirty="0">
                <a:solidFill>
                  <a:srgbClr val="E0A937"/>
                </a:solidFill>
                <a:latin typeface="Calibri" pitchFamily="34" charset="0"/>
                <a:ea typeface="Calibri" pitchFamily="34" charset="-122"/>
                <a:cs typeface="Calibri" pitchFamily="34" charset="-120"/>
              </a:rPr>
              <a:t>Why this is a real product, not just a proof of concept:</a:t>
            </a:r>
            <a:endParaRPr lang="en-US" sz="1300" dirty="0"/>
          </a:p>
        </p:txBody>
      </p:sp>
      <p:sp>
        <p:nvSpPr>
          <p:cNvPr id="7" name="Text 5"/>
          <p:cNvSpPr txBox="1"/>
          <p:nvPr/>
        </p:nvSpPr>
        <p:spPr>
          <a:xfrm>
            <a:off x="7178040" y="2697480"/>
            <a:ext cx="4206240" cy="32918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Runs on a laptop or a free-tier cloud instance — no GPU needed</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Honest error states — never fakes a verdict if the backend is unreachable</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Accessible design — plain-language reasoning, not a black box</a:t>
            </a:r>
            <a:endParaRPr lang="en-US" sz="1300" dirty="0"/>
          </a:p>
          <a:p>
            <a:pPr marL="228600" indent="-2286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Every number in this deck comes from real, untouched test data — zero mock results</a:t>
            </a:r>
            <a:endParaRPr lang="en-US" sz="1300" dirty="0"/>
          </a:p>
        </p:txBody>
      </p:sp>
      <p:sp>
        <p:nvSpPr>
          <p:cNvPr id="8" name="Text 6"/>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INNOVATION AND THE TECHNOLOGY BEHIND IT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How a Message Becomes a Verdict</a:t>
            </a:r>
            <a:endParaRPr lang="en-US" sz="2800" dirty="0"/>
          </a:p>
        </p:txBody>
      </p:sp>
      <p:sp>
        <p:nvSpPr>
          <p:cNvPr id="4" name="Shape 2"/>
          <p:cNvSpPr/>
          <p:nvPr/>
        </p:nvSpPr>
        <p:spPr>
          <a:xfrm>
            <a:off x="521208" y="2734056"/>
            <a:ext cx="2008022" cy="1371600"/>
          </a:xfrm>
          <a:prstGeom prst="roundRect">
            <a:avLst>
              <a:gd name="adj" fmla="val 5333"/>
            </a:avLst>
          </a:prstGeom>
          <a:solidFill>
            <a:srgbClr val="CADCFC"/>
          </a:solidFill>
          <a:ln/>
        </p:spPr>
      </p:sp>
      <p:sp>
        <p:nvSpPr>
          <p:cNvPr id="5" name="Text 3"/>
          <p:cNvSpPr txBox="1"/>
          <p:nvPr/>
        </p:nvSpPr>
        <p:spPr>
          <a:xfrm>
            <a:off x="621792" y="2816352"/>
            <a:ext cx="1861718" cy="914400"/>
          </a:xfrm>
          <a:prstGeom prst="rect">
            <a:avLst/>
          </a:prstGeom>
          <a:noFill/>
          <a:ln/>
        </p:spPr>
        <p:txBody>
          <a:bodyPr wrap="square" lIns="0" tIns="0" rIns="0" bIns="0" rtlCol="0" anchor="t"/>
          <a:lstStyle/>
          <a:p>
            <a:pPr marL="0" indent="0" algn="ctr">
              <a:buNone/>
            </a:pPr>
            <a:r>
              <a:rPr lang="en-US" sz="1250" b="1" dirty="0">
                <a:solidFill>
                  <a:srgbClr val="12294E"/>
                </a:solidFill>
                <a:latin typeface="Calibri" pitchFamily="34" charset="0"/>
                <a:ea typeface="Calibri" pitchFamily="34" charset="-122"/>
                <a:cs typeface="Calibri" pitchFamily="34" charset="-120"/>
              </a:rPr>
              <a:t>1. Normalize</a:t>
            </a:r>
            <a:endParaRPr lang="en-US" sz="1250" dirty="0"/>
          </a:p>
        </p:txBody>
      </p:sp>
      <p:sp>
        <p:nvSpPr>
          <p:cNvPr id="6" name="Text 4"/>
          <p:cNvSpPr txBox="1"/>
          <p:nvPr/>
        </p:nvSpPr>
        <p:spPr>
          <a:xfrm>
            <a:off x="621792" y="3730752"/>
            <a:ext cx="1861718" cy="329184"/>
          </a:xfrm>
          <a:prstGeom prst="rect">
            <a:avLst/>
          </a:prstGeom>
          <a:noFill/>
          <a:ln/>
        </p:spPr>
        <p:txBody>
          <a:bodyPr wrap="square" lIns="0" tIns="0" rIns="0" bIns="0" rtlCol="0" anchor="t"/>
          <a:lstStyle/>
          <a:p>
            <a:pPr marL="0" indent="0" algn="ctr">
              <a:buNone/>
            </a:pPr>
            <a:r>
              <a:rPr lang="en-US" sz="900" dirty="0">
                <a:solidFill>
                  <a:srgbClr val="12294E"/>
                </a:solidFill>
                <a:latin typeface="Calibri" pitchFamily="34" charset="0"/>
                <a:ea typeface="Calibri" pitchFamily="34" charset="-122"/>
                <a:cs typeface="Calibri" pitchFamily="34" charset="-120"/>
              </a:rPr>
              <a:t>Standardize Roman Urdu spelling, USSD codes, phone numbers, phrases</a:t>
            </a:r>
            <a:endParaRPr lang="en-US" sz="900" dirty="0"/>
          </a:p>
        </p:txBody>
      </p:sp>
      <p:sp>
        <p:nvSpPr>
          <p:cNvPr id="7" name="Shape 5"/>
          <p:cNvSpPr/>
          <p:nvPr/>
        </p:nvSpPr>
        <p:spPr>
          <a:xfrm>
            <a:off x="2574950" y="3328416"/>
            <a:ext cx="219456" cy="201168"/>
          </a:xfrm>
          <a:prstGeom prst="rightArrow">
            <a:avLst/>
          </a:prstGeom>
          <a:solidFill>
            <a:srgbClr val="56698A"/>
          </a:solidFill>
          <a:ln/>
        </p:spPr>
      </p:sp>
      <p:sp>
        <p:nvSpPr>
          <p:cNvPr id="8" name="Shape 6"/>
          <p:cNvSpPr/>
          <p:nvPr/>
        </p:nvSpPr>
        <p:spPr>
          <a:xfrm>
            <a:off x="2812694" y="2743200"/>
            <a:ext cx="2008022" cy="1371600"/>
          </a:xfrm>
          <a:prstGeom prst="roundRect">
            <a:avLst>
              <a:gd name="adj" fmla="val 5333"/>
            </a:avLst>
          </a:prstGeom>
          <a:solidFill>
            <a:srgbClr val="CADCFC"/>
          </a:solidFill>
          <a:ln/>
        </p:spPr>
      </p:sp>
      <p:sp>
        <p:nvSpPr>
          <p:cNvPr id="9" name="Text 7"/>
          <p:cNvSpPr txBox="1"/>
          <p:nvPr/>
        </p:nvSpPr>
        <p:spPr>
          <a:xfrm>
            <a:off x="2885846" y="2816352"/>
            <a:ext cx="1861718" cy="914400"/>
          </a:xfrm>
          <a:prstGeom prst="rect">
            <a:avLst/>
          </a:prstGeom>
          <a:noFill/>
          <a:ln/>
        </p:spPr>
        <p:txBody>
          <a:bodyPr wrap="square" lIns="0" tIns="0" rIns="0" bIns="0" rtlCol="0" anchor="t"/>
          <a:lstStyle/>
          <a:p>
            <a:pPr marL="0" indent="0" algn="ctr">
              <a:buNone/>
            </a:pPr>
            <a:r>
              <a:rPr lang="en-US" sz="1250" b="1" dirty="0">
                <a:solidFill>
                  <a:srgbClr val="12294E"/>
                </a:solidFill>
                <a:latin typeface="Calibri" pitchFamily="34" charset="0"/>
                <a:ea typeface="Calibri" pitchFamily="34" charset="-122"/>
                <a:cs typeface="Calibri" pitchFamily="34" charset="-120"/>
              </a:rPr>
              <a:t>2. Extract Features</a:t>
            </a:r>
            <a:endParaRPr lang="en-US" sz="1250" dirty="0"/>
          </a:p>
        </p:txBody>
      </p:sp>
      <p:sp>
        <p:nvSpPr>
          <p:cNvPr id="10" name="Text 8"/>
          <p:cNvSpPr txBox="1"/>
          <p:nvPr/>
        </p:nvSpPr>
        <p:spPr>
          <a:xfrm>
            <a:off x="2885846" y="3730752"/>
            <a:ext cx="1861718" cy="329184"/>
          </a:xfrm>
          <a:prstGeom prst="rect">
            <a:avLst/>
          </a:prstGeom>
          <a:noFill/>
          <a:ln/>
        </p:spPr>
        <p:txBody>
          <a:bodyPr wrap="square" lIns="0" tIns="0" rIns="0" bIns="0" rtlCol="0" anchor="t"/>
          <a:lstStyle/>
          <a:p>
            <a:pPr marL="0" indent="0" algn="ctr">
              <a:buNone/>
            </a:pPr>
            <a:r>
              <a:rPr lang="en-US" sz="900" dirty="0">
                <a:solidFill>
                  <a:srgbClr val="12294E"/>
                </a:solidFill>
                <a:latin typeface="Calibri" pitchFamily="34" charset="0"/>
                <a:ea typeface="Calibri" pitchFamily="34" charset="-122"/>
                <a:cs typeface="Calibri" pitchFamily="34" charset="-120"/>
              </a:rPr>
              <a:t>Word + character TF-IDF — catches disguised / misspelled scam words</a:t>
            </a:r>
            <a:endParaRPr lang="en-US" sz="900" dirty="0"/>
          </a:p>
        </p:txBody>
      </p:sp>
      <p:sp>
        <p:nvSpPr>
          <p:cNvPr id="11" name="Shape 9"/>
          <p:cNvSpPr/>
          <p:nvPr/>
        </p:nvSpPr>
        <p:spPr>
          <a:xfrm>
            <a:off x="4839005" y="3328416"/>
            <a:ext cx="219456" cy="201168"/>
          </a:xfrm>
          <a:prstGeom prst="rightArrow">
            <a:avLst/>
          </a:prstGeom>
          <a:solidFill>
            <a:srgbClr val="56698A"/>
          </a:solidFill>
          <a:ln/>
        </p:spPr>
      </p:sp>
      <p:sp>
        <p:nvSpPr>
          <p:cNvPr id="12" name="Shape 10"/>
          <p:cNvSpPr/>
          <p:nvPr/>
        </p:nvSpPr>
        <p:spPr>
          <a:xfrm>
            <a:off x="5076749" y="2743200"/>
            <a:ext cx="2008022" cy="1371600"/>
          </a:xfrm>
          <a:prstGeom prst="roundRect">
            <a:avLst>
              <a:gd name="adj" fmla="val 5333"/>
            </a:avLst>
          </a:prstGeom>
          <a:solidFill>
            <a:srgbClr val="12294E"/>
          </a:solidFill>
          <a:ln/>
        </p:spPr>
      </p:sp>
      <p:sp>
        <p:nvSpPr>
          <p:cNvPr id="13" name="Text 11"/>
          <p:cNvSpPr txBox="1"/>
          <p:nvPr/>
        </p:nvSpPr>
        <p:spPr>
          <a:xfrm>
            <a:off x="5149901" y="2816352"/>
            <a:ext cx="1861718" cy="9144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3. Classify</a:t>
            </a:r>
            <a:endParaRPr lang="en-US" sz="1250" dirty="0"/>
          </a:p>
        </p:txBody>
      </p:sp>
      <p:sp>
        <p:nvSpPr>
          <p:cNvPr id="14" name="Text 12"/>
          <p:cNvSpPr txBox="1"/>
          <p:nvPr/>
        </p:nvSpPr>
        <p:spPr>
          <a:xfrm>
            <a:off x="5149901" y="3730752"/>
            <a:ext cx="1861718" cy="329184"/>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LinearSVC decides scam vs. safe</a:t>
            </a:r>
            <a:endParaRPr lang="en-US" sz="900" dirty="0"/>
          </a:p>
        </p:txBody>
      </p:sp>
      <p:sp>
        <p:nvSpPr>
          <p:cNvPr id="15" name="Shape 13"/>
          <p:cNvSpPr/>
          <p:nvPr/>
        </p:nvSpPr>
        <p:spPr>
          <a:xfrm>
            <a:off x="7103059" y="3328416"/>
            <a:ext cx="219456" cy="201168"/>
          </a:xfrm>
          <a:prstGeom prst="rightArrow">
            <a:avLst/>
          </a:prstGeom>
          <a:solidFill>
            <a:srgbClr val="56698A"/>
          </a:solidFill>
          <a:ln/>
        </p:spPr>
      </p:sp>
      <p:sp>
        <p:nvSpPr>
          <p:cNvPr id="16" name="Shape 14"/>
          <p:cNvSpPr/>
          <p:nvPr/>
        </p:nvSpPr>
        <p:spPr>
          <a:xfrm>
            <a:off x="7340803" y="2743200"/>
            <a:ext cx="2008022" cy="1371600"/>
          </a:xfrm>
          <a:prstGeom prst="roundRect">
            <a:avLst>
              <a:gd name="adj" fmla="val 5333"/>
            </a:avLst>
          </a:prstGeom>
          <a:solidFill>
            <a:srgbClr val="CADCFC"/>
          </a:solidFill>
          <a:ln/>
        </p:spPr>
      </p:sp>
      <p:sp>
        <p:nvSpPr>
          <p:cNvPr id="17" name="Text 15"/>
          <p:cNvSpPr txBox="1"/>
          <p:nvPr/>
        </p:nvSpPr>
        <p:spPr>
          <a:xfrm>
            <a:off x="7413955" y="2816352"/>
            <a:ext cx="1861718" cy="914400"/>
          </a:xfrm>
          <a:prstGeom prst="rect">
            <a:avLst/>
          </a:prstGeom>
          <a:noFill/>
          <a:ln/>
        </p:spPr>
        <p:txBody>
          <a:bodyPr wrap="square" lIns="0" tIns="0" rIns="0" bIns="0" rtlCol="0" anchor="t"/>
          <a:lstStyle/>
          <a:p>
            <a:pPr marL="0" indent="0" algn="ctr">
              <a:buNone/>
            </a:pPr>
            <a:r>
              <a:rPr lang="en-US" sz="1250" b="1" dirty="0">
                <a:solidFill>
                  <a:srgbClr val="12294E"/>
                </a:solidFill>
                <a:latin typeface="Calibri" pitchFamily="34" charset="0"/>
                <a:ea typeface="Calibri" pitchFamily="34" charset="-122"/>
                <a:cs typeface="Calibri" pitchFamily="34" charset="-120"/>
              </a:rPr>
              <a:t>4. Calibrate</a:t>
            </a:r>
            <a:endParaRPr lang="en-US" sz="1250" dirty="0"/>
          </a:p>
        </p:txBody>
      </p:sp>
      <p:sp>
        <p:nvSpPr>
          <p:cNvPr id="18" name="Text 16"/>
          <p:cNvSpPr txBox="1"/>
          <p:nvPr/>
        </p:nvSpPr>
        <p:spPr>
          <a:xfrm>
            <a:off x="7413955" y="3730752"/>
            <a:ext cx="1861718" cy="329184"/>
          </a:xfrm>
          <a:prstGeom prst="rect">
            <a:avLst/>
          </a:prstGeom>
          <a:noFill/>
          <a:ln/>
        </p:spPr>
        <p:txBody>
          <a:bodyPr wrap="square" lIns="0" tIns="0" rIns="0" bIns="0" rtlCol="0" anchor="t"/>
          <a:lstStyle/>
          <a:p>
            <a:pPr marL="0" indent="0" algn="ctr">
              <a:buNone/>
            </a:pPr>
            <a:r>
              <a:rPr lang="en-US" sz="900" dirty="0">
                <a:solidFill>
                  <a:srgbClr val="12294E"/>
                </a:solidFill>
                <a:latin typeface="Calibri" pitchFamily="34" charset="0"/>
                <a:ea typeface="Calibri" pitchFamily="34" charset="-122"/>
                <a:cs typeface="Calibri" pitchFamily="34" charset="-120"/>
              </a:rPr>
              <a:t>Platt scaling turns the decision into an honest confidence %</a:t>
            </a:r>
            <a:endParaRPr lang="en-US" sz="900" dirty="0"/>
          </a:p>
        </p:txBody>
      </p:sp>
      <p:sp>
        <p:nvSpPr>
          <p:cNvPr id="19" name="Shape 17"/>
          <p:cNvSpPr/>
          <p:nvPr/>
        </p:nvSpPr>
        <p:spPr>
          <a:xfrm>
            <a:off x="9367114" y="3328416"/>
            <a:ext cx="219456" cy="201168"/>
          </a:xfrm>
          <a:prstGeom prst="rightArrow">
            <a:avLst/>
          </a:prstGeom>
          <a:solidFill>
            <a:srgbClr val="56698A"/>
          </a:solidFill>
          <a:ln/>
        </p:spPr>
      </p:sp>
      <p:sp>
        <p:nvSpPr>
          <p:cNvPr id="20" name="Shape 18"/>
          <p:cNvSpPr/>
          <p:nvPr/>
        </p:nvSpPr>
        <p:spPr>
          <a:xfrm>
            <a:off x="9604858" y="2743200"/>
            <a:ext cx="2008022" cy="1371600"/>
          </a:xfrm>
          <a:prstGeom prst="roundRect">
            <a:avLst>
              <a:gd name="adj" fmla="val 5333"/>
            </a:avLst>
          </a:prstGeom>
          <a:solidFill>
            <a:srgbClr val="D64550"/>
          </a:solidFill>
          <a:ln/>
        </p:spPr>
      </p:sp>
      <p:sp>
        <p:nvSpPr>
          <p:cNvPr id="21" name="Text 19"/>
          <p:cNvSpPr txBox="1"/>
          <p:nvPr/>
        </p:nvSpPr>
        <p:spPr>
          <a:xfrm>
            <a:off x="9678010" y="2816352"/>
            <a:ext cx="1861718" cy="9144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5. Threshold @ 0.63</a:t>
            </a:r>
            <a:endParaRPr lang="en-US" sz="1250" dirty="0"/>
          </a:p>
        </p:txBody>
      </p:sp>
      <p:sp>
        <p:nvSpPr>
          <p:cNvPr id="22" name="Text 20"/>
          <p:cNvSpPr txBox="1"/>
          <p:nvPr/>
        </p:nvSpPr>
        <p:spPr>
          <a:xfrm>
            <a:off x="9678010" y="3730752"/>
            <a:ext cx="1861718" cy="329184"/>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Tuned cutoff → final Scam / Safe verdict</a:t>
            </a:r>
            <a:endParaRPr lang="en-US" sz="900" dirty="0"/>
          </a:p>
        </p:txBody>
      </p:sp>
      <p:sp>
        <p:nvSpPr>
          <p:cNvPr id="23" name="Text 21"/>
          <p:cNvSpPr txBox="1"/>
          <p:nvPr/>
        </p:nvSpPr>
        <p:spPr>
          <a:xfrm>
            <a:off x="548640" y="2331720"/>
            <a:ext cx="5486400" cy="320040"/>
          </a:xfrm>
          <a:prstGeom prst="rect">
            <a:avLst/>
          </a:prstGeom>
          <a:noFill/>
          <a:ln/>
        </p:spPr>
        <p:txBody>
          <a:bodyPr wrap="square" lIns="0" tIns="0" rIns="0" bIns="0" rtlCol="0" anchor="ctr"/>
          <a:lstStyle/>
          <a:p>
            <a:pPr marL="0" indent="0">
              <a:buNone/>
            </a:pPr>
            <a:r>
              <a:rPr lang="en-US" sz="1200" i="1" dirty="0">
                <a:solidFill>
                  <a:srgbClr val="56698A"/>
                </a:solidFill>
                <a:latin typeface="Calibri" pitchFamily="34" charset="0"/>
                <a:ea typeface="Calibri" pitchFamily="34" charset="-122"/>
                <a:cs typeface="Calibri" pitchFamily="34" charset="-120"/>
              </a:rPr>
              <a:t>Input: a raw SMS / WhatsApp message</a:t>
            </a:r>
            <a:endParaRPr lang="en-US" sz="1200" dirty="0"/>
          </a:p>
        </p:txBody>
      </p:sp>
      <p:sp>
        <p:nvSpPr>
          <p:cNvPr id="24" name="Text 22"/>
          <p:cNvSpPr txBox="1"/>
          <p:nvPr/>
        </p:nvSpPr>
        <p:spPr>
          <a:xfrm>
            <a:off x="548640" y="4480560"/>
            <a:ext cx="11064240" cy="640080"/>
          </a:xfrm>
          <a:prstGeom prst="rect">
            <a:avLst/>
          </a:prstGeom>
          <a:noFill/>
          <a:ln/>
        </p:spPr>
        <p:txBody>
          <a:bodyPr wrap="square" lIns="0" tIns="0" rIns="0" bIns="0" rtlCol="0" anchor="ctr"/>
          <a:lstStyle/>
          <a:p>
            <a:pPr marL="0" indent="0">
              <a:buNone/>
            </a:pPr>
            <a:r>
              <a:rPr lang="en-US" sz="1300" dirty="0">
                <a:solidFill>
                  <a:srgbClr val="1A2740"/>
                </a:solidFill>
                <a:latin typeface="Calibri" pitchFamily="34" charset="0"/>
                <a:ea typeface="Calibri" pitchFamily="34" charset="-122"/>
                <a:cs typeface="Calibri" pitchFamily="34" charset="-120"/>
              </a:rPr>
              <a:t>Pakistan-specific engineering: 15+ Roman Urdu spelling-normalization rules, 10+ phrase-normalization rules, USSD-code tagging (*786# → token), and URL/email masking so the model can't just memorize specific links.</a:t>
            </a:r>
            <a:endParaRPr lang="en-US" sz="1300" dirty="0"/>
          </a:p>
        </p:txBody>
      </p:sp>
      <p:sp>
        <p:nvSpPr>
          <p:cNvPr id="25" name="Shape 23"/>
          <p:cNvSpPr/>
          <p:nvPr/>
        </p:nvSpPr>
        <p:spPr>
          <a:xfrm>
            <a:off x="548640" y="5257800"/>
            <a:ext cx="11064240" cy="1051560"/>
          </a:xfrm>
          <a:prstGeom prst="roundRect">
            <a:avLst>
              <a:gd name="adj" fmla="val 6957"/>
            </a:avLst>
          </a:prstGeom>
          <a:solidFill>
            <a:srgbClr val="E9F0FA"/>
          </a:solidFill>
          <a:ln/>
        </p:spPr>
      </p:sp>
      <p:sp>
        <p:nvSpPr>
          <p:cNvPr id="26" name="Text 24"/>
          <p:cNvSpPr txBox="1"/>
          <p:nvPr/>
        </p:nvSpPr>
        <p:spPr>
          <a:xfrm>
            <a:off x="822960" y="5257800"/>
            <a:ext cx="10515600" cy="1051560"/>
          </a:xfrm>
          <a:prstGeom prst="rect">
            <a:avLst/>
          </a:prstGeom>
          <a:noFill/>
          <a:ln/>
        </p:spPr>
        <p:txBody>
          <a:bodyPr wrap="square" lIns="0" tIns="0" rIns="0" bIns="0" rtlCol="0" anchor="ctr"/>
          <a:lstStyle/>
          <a:p>
            <a:pPr marL="0" indent="0">
              <a:buNone/>
            </a:pPr>
            <a:r>
              <a:rPr lang="en-US" sz="1800" b="1" dirty="0">
                <a:solidFill>
                  <a:srgbClr val="12294E"/>
                </a:solidFill>
                <a:latin typeface="Cambria" pitchFamily="34" charset="0"/>
                <a:ea typeface="Cambria" pitchFamily="34" charset="-122"/>
                <a:cs typeface="Cambria" pitchFamily="34" charset="-120"/>
              </a:rPr>
              <a:t>Under 10 milliseconds per message on an ordinary CPU — no GPU required.</a:t>
            </a:r>
            <a:endParaRPr lang="en-US" sz="1800" dirty="0"/>
          </a:p>
        </p:txBody>
      </p:sp>
      <p:sp>
        <p:nvSpPr>
          <p:cNvPr id="28" name="Text 26"/>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06</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3" grpId="0" animBg="1"/>
      <p:bldP spid="14" grpId="0" animBg="1"/>
      <p:bldP spid="17" grpId="0" animBg="1"/>
      <p:bldP spid="18"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INNOVATION AND THE TECHNOLOGY BEHIND IT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O</a:t>
            </a:r>
            <a:r>
              <a:rPr lang="en-US" sz="2800" b="1" dirty="0" smtClean="0">
                <a:solidFill>
                  <a:srgbClr val="12294E"/>
                </a:solidFill>
                <a:latin typeface="Cambria" pitchFamily="34" charset="0"/>
                <a:ea typeface="Cambria" pitchFamily="34" charset="-122"/>
                <a:cs typeface="Cambria" pitchFamily="34" charset="-120"/>
              </a:rPr>
              <a:t>ne Core Model, Two Entry Points</a:t>
            </a:r>
            <a:endParaRPr lang="en-US" sz="2800" dirty="0"/>
          </a:p>
        </p:txBody>
      </p:sp>
      <p:sp>
        <p:nvSpPr>
          <p:cNvPr id="4" name="Shape 2"/>
          <p:cNvSpPr/>
          <p:nvPr/>
        </p:nvSpPr>
        <p:spPr>
          <a:xfrm>
            <a:off x="521208" y="2734056"/>
            <a:ext cx="2008022" cy="1371600"/>
          </a:xfrm>
          <a:prstGeom prst="roundRect">
            <a:avLst>
              <a:gd name="adj" fmla="val 5333"/>
            </a:avLst>
          </a:prstGeom>
          <a:solidFill>
            <a:srgbClr val="CADCFC"/>
          </a:solidFill>
          <a:ln/>
        </p:spPr>
      </p:sp>
      <p:sp>
        <p:nvSpPr>
          <p:cNvPr id="5" name="Text 3"/>
          <p:cNvSpPr txBox="1"/>
          <p:nvPr/>
        </p:nvSpPr>
        <p:spPr>
          <a:xfrm>
            <a:off x="621792" y="2816352"/>
            <a:ext cx="1861718" cy="914400"/>
          </a:xfrm>
          <a:prstGeom prst="rect">
            <a:avLst/>
          </a:prstGeom>
          <a:noFill/>
          <a:ln/>
        </p:spPr>
        <p:txBody>
          <a:bodyPr wrap="square" lIns="0" tIns="0" rIns="0" bIns="0" rtlCol="0" anchor="t"/>
          <a:lstStyle/>
          <a:p>
            <a:pPr marL="0" indent="0" algn="ctr">
              <a:buNone/>
            </a:pPr>
            <a:r>
              <a:rPr lang="en-US" sz="1250" b="1" dirty="0">
                <a:solidFill>
                  <a:srgbClr val="12294E"/>
                </a:solidFill>
                <a:latin typeface="Calibri" pitchFamily="34" charset="0"/>
                <a:ea typeface="Calibri" pitchFamily="34" charset="-122"/>
                <a:cs typeface="Calibri" pitchFamily="34" charset="-120"/>
              </a:rPr>
              <a:t>1. </a:t>
            </a:r>
            <a:r>
              <a:rPr lang="en-US" sz="1250" b="1" dirty="0">
                <a:solidFill>
                  <a:srgbClr val="12294E"/>
                </a:solidFill>
                <a:latin typeface="Calibri" pitchFamily="34" charset="0"/>
                <a:ea typeface="Calibri" pitchFamily="34" charset="-122"/>
                <a:cs typeface="Calibri" pitchFamily="34" charset="-120"/>
              </a:rPr>
              <a:t>A</a:t>
            </a:r>
            <a:r>
              <a:rPr lang="en-US" sz="1250" b="1" dirty="0" smtClean="0">
                <a:solidFill>
                  <a:srgbClr val="12294E"/>
                </a:solidFill>
                <a:latin typeface="Calibri" pitchFamily="34" charset="0"/>
                <a:ea typeface="Calibri" pitchFamily="34" charset="-122"/>
                <a:cs typeface="Calibri" pitchFamily="34" charset="-120"/>
              </a:rPr>
              <a:t>udio In</a:t>
            </a:r>
            <a:endParaRPr lang="en-US" sz="1250" dirty="0"/>
          </a:p>
        </p:txBody>
      </p:sp>
      <p:sp>
        <p:nvSpPr>
          <p:cNvPr id="6" name="Text 4"/>
          <p:cNvSpPr txBox="1"/>
          <p:nvPr/>
        </p:nvSpPr>
        <p:spPr>
          <a:xfrm>
            <a:off x="621792" y="3730752"/>
            <a:ext cx="1861718" cy="329184"/>
          </a:xfrm>
          <a:prstGeom prst="rect">
            <a:avLst/>
          </a:prstGeom>
          <a:noFill/>
          <a:ln/>
        </p:spPr>
        <p:txBody>
          <a:bodyPr wrap="square" lIns="0" tIns="0" rIns="0" bIns="0" rtlCol="0" anchor="t"/>
          <a:lstStyle/>
          <a:p>
            <a:pPr marL="0" indent="0" algn="ctr">
              <a:buNone/>
            </a:pPr>
            <a:r>
              <a:rPr lang="en-US" sz="900" dirty="0" err="1" smtClean="0">
                <a:solidFill>
                  <a:srgbClr val="12294E"/>
                </a:solidFill>
                <a:latin typeface="Calibri" pitchFamily="34" charset="0"/>
                <a:ea typeface="Calibri" pitchFamily="34" charset="-122"/>
                <a:cs typeface="Calibri" pitchFamily="34" charset="-120"/>
              </a:rPr>
              <a:t>Scall</a:t>
            </a:r>
            <a:r>
              <a:rPr lang="en-US" sz="900" dirty="0" smtClean="0">
                <a:solidFill>
                  <a:srgbClr val="12294E"/>
                </a:solidFill>
                <a:latin typeface="Calibri" pitchFamily="34" charset="0"/>
                <a:ea typeface="Calibri" pitchFamily="34" charset="-122"/>
                <a:cs typeface="Calibri" pitchFamily="34" charset="-120"/>
              </a:rPr>
              <a:t> Recording or live mic(mp3/mp4)</a:t>
            </a:r>
            <a:endParaRPr lang="en-US" sz="900" dirty="0"/>
          </a:p>
        </p:txBody>
      </p:sp>
      <p:sp>
        <p:nvSpPr>
          <p:cNvPr id="7" name="Shape 5"/>
          <p:cNvSpPr/>
          <p:nvPr/>
        </p:nvSpPr>
        <p:spPr>
          <a:xfrm>
            <a:off x="2574950" y="3328416"/>
            <a:ext cx="219456" cy="201168"/>
          </a:xfrm>
          <a:prstGeom prst="rightArrow">
            <a:avLst/>
          </a:prstGeom>
          <a:solidFill>
            <a:srgbClr val="56698A"/>
          </a:solidFill>
          <a:ln/>
        </p:spPr>
      </p:sp>
      <p:sp>
        <p:nvSpPr>
          <p:cNvPr id="8" name="Shape 6"/>
          <p:cNvSpPr/>
          <p:nvPr/>
        </p:nvSpPr>
        <p:spPr>
          <a:xfrm>
            <a:off x="2812694" y="2743200"/>
            <a:ext cx="2008022" cy="1371600"/>
          </a:xfrm>
          <a:prstGeom prst="roundRect">
            <a:avLst>
              <a:gd name="adj" fmla="val 5333"/>
            </a:avLst>
          </a:prstGeom>
          <a:solidFill>
            <a:srgbClr val="CADCFC"/>
          </a:solidFill>
          <a:ln/>
        </p:spPr>
      </p:sp>
      <p:sp>
        <p:nvSpPr>
          <p:cNvPr id="9" name="Text 7"/>
          <p:cNvSpPr txBox="1"/>
          <p:nvPr/>
        </p:nvSpPr>
        <p:spPr>
          <a:xfrm>
            <a:off x="2885846" y="2816352"/>
            <a:ext cx="1861718" cy="914400"/>
          </a:xfrm>
          <a:prstGeom prst="rect">
            <a:avLst/>
          </a:prstGeom>
          <a:noFill/>
          <a:ln/>
        </p:spPr>
        <p:txBody>
          <a:bodyPr wrap="square" lIns="0" tIns="0" rIns="0" bIns="0" rtlCol="0" anchor="t"/>
          <a:lstStyle/>
          <a:p>
            <a:pPr marL="0" indent="0" algn="ctr">
              <a:buNone/>
            </a:pPr>
            <a:r>
              <a:rPr lang="en-US" sz="1250" b="1" dirty="0">
                <a:solidFill>
                  <a:srgbClr val="12294E"/>
                </a:solidFill>
                <a:latin typeface="Calibri" pitchFamily="34" charset="0"/>
                <a:ea typeface="Calibri" pitchFamily="34" charset="-122"/>
                <a:cs typeface="Calibri" pitchFamily="34" charset="-120"/>
              </a:rPr>
              <a:t>2. </a:t>
            </a:r>
            <a:r>
              <a:rPr lang="en-US" sz="1250" b="1" dirty="0" smtClean="0">
                <a:solidFill>
                  <a:srgbClr val="12294E"/>
                </a:solidFill>
                <a:latin typeface="Calibri" pitchFamily="34" charset="0"/>
                <a:ea typeface="Calibri" pitchFamily="34" charset="-122"/>
                <a:cs typeface="Calibri" pitchFamily="34" charset="-120"/>
              </a:rPr>
              <a:t>Transcribe</a:t>
            </a:r>
            <a:endParaRPr lang="en-US" sz="1250" dirty="0"/>
          </a:p>
        </p:txBody>
      </p:sp>
      <p:sp>
        <p:nvSpPr>
          <p:cNvPr id="10" name="Text 8"/>
          <p:cNvSpPr txBox="1"/>
          <p:nvPr/>
        </p:nvSpPr>
        <p:spPr>
          <a:xfrm>
            <a:off x="2885846" y="3730752"/>
            <a:ext cx="1861718" cy="329184"/>
          </a:xfrm>
          <a:prstGeom prst="rect">
            <a:avLst/>
          </a:prstGeom>
          <a:noFill/>
          <a:ln/>
        </p:spPr>
        <p:txBody>
          <a:bodyPr wrap="square" lIns="0" tIns="0" rIns="0" bIns="0" rtlCol="0" anchor="t"/>
          <a:lstStyle/>
          <a:p>
            <a:pPr marL="0" indent="0" algn="ctr">
              <a:buNone/>
            </a:pPr>
            <a:r>
              <a:rPr lang="en-US" sz="900" dirty="0">
                <a:solidFill>
                  <a:srgbClr val="12294E"/>
                </a:solidFill>
                <a:latin typeface="Calibri" pitchFamily="34" charset="0"/>
                <a:ea typeface="Calibri" pitchFamily="34" charset="-122"/>
                <a:cs typeface="Calibri" pitchFamily="34" charset="-120"/>
              </a:rPr>
              <a:t>F</a:t>
            </a:r>
            <a:r>
              <a:rPr lang="en-US" sz="900" dirty="0" smtClean="0">
                <a:solidFill>
                  <a:srgbClr val="12294E"/>
                </a:solidFill>
                <a:latin typeface="Calibri" pitchFamily="34" charset="0"/>
                <a:ea typeface="Calibri" pitchFamily="34" charset="-122"/>
                <a:cs typeface="Calibri" pitchFamily="34" charset="-120"/>
              </a:rPr>
              <a:t>aster Wisper(medium), runs locally on CPU</a:t>
            </a:r>
            <a:endParaRPr lang="en-US" sz="900" dirty="0"/>
          </a:p>
        </p:txBody>
      </p:sp>
      <p:sp>
        <p:nvSpPr>
          <p:cNvPr id="11" name="Shape 9"/>
          <p:cNvSpPr/>
          <p:nvPr/>
        </p:nvSpPr>
        <p:spPr>
          <a:xfrm>
            <a:off x="4839005" y="3328416"/>
            <a:ext cx="219456" cy="201168"/>
          </a:xfrm>
          <a:prstGeom prst="rightArrow">
            <a:avLst/>
          </a:prstGeom>
          <a:solidFill>
            <a:srgbClr val="56698A"/>
          </a:solidFill>
          <a:ln/>
        </p:spPr>
      </p:sp>
      <p:sp>
        <p:nvSpPr>
          <p:cNvPr id="12" name="Shape 10"/>
          <p:cNvSpPr/>
          <p:nvPr/>
        </p:nvSpPr>
        <p:spPr>
          <a:xfrm>
            <a:off x="5067082" y="2725892"/>
            <a:ext cx="2008022" cy="1371600"/>
          </a:xfrm>
          <a:prstGeom prst="roundRect">
            <a:avLst>
              <a:gd name="adj" fmla="val 5333"/>
            </a:avLst>
          </a:prstGeom>
          <a:solidFill>
            <a:srgbClr val="12294E"/>
          </a:solidFill>
          <a:ln/>
        </p:spPr>
      </p:sp>
      <p:sp>
        <p:nvSpPr>
          <p:cNvPr id="13" name="Text 11"/>
          <p:cNvSpPr txBox="1"/>
          <p:nvPr/>
        </p:nvSpPr>
        <p:spPr>
          <a:xfrm>
            <a:off x="5159567" y="2806555"/>
            <a:ext cx="1861718" cy="914400"/>
          </a:xfrm>
          <a:prstGeom prst="rect">
            <a:avLst/>
          </a:prstGeom>
          <a:noFill/>
          <a:ln/>
        </p:spPr>
        <p:txBody>
          <a:bodyPr wrap="square" lIns="0" tIns="0" rIns="0" bIns="0" rtlCol="0" anchor="t"/>
          <a:lstStyle/>
          <a:p>
            <a:pPr algn="ctr"/>
            <a:r>
              <a:rPr lang="en-US" sz="1250" b="1" dirty="0">
                <a:solidFill>
                  <a:srgbClr val="FFFFFF"/>
                </a:solidFill>
                <a:latin typeface="Calibri" pitchFamily="34" charset="0"/>
                <a:ea typeface="Calibri" pitchFamily="34" charset="-122"/>
                <a:cs typeface="Calibri" pitchFamily="34" charset="-120"/>
              </a:rPr>
              <a:t>3</a:t>
            </a:r>
            <a:r>
              <a:rPr lang="en-US" sz="1250" b="1" dirty="0" smtClean="0">
                <a:solidFill>
                  <a:srgbClr val="FFFFFF"/>
                </a:solidFill>
                <a:latin typeface="Calibri" pitchFamily="34" charset="0"/>
                <a:ea typeface="Calibri" pitchFamily="34" charset="-122"/>
                <a:cs typeface="Calibri" pitchFamily="34" charset="-120"/>
              </a:rPr>
              <a:t>.</a:t>
            </a:r>
            <a:r>
              <a:rPr lang="en-US" sz="1250" b="1" dirty="0" smtClean="0">
                <a:solidFill>
                  <a:srgbClr val="12294E"/>
                </a:solidFill>
                <a:latin typeface="Calibri" pitchFamily="34" charset="0"/>
                <a:ea typeface="Calibri" pitchFamily="34" charset="-122"/>
                <a:cs typeface="Calibri" pitchFamily="34" charset="-120"/>
              </a:rPr>
              <a:t> </a:t>
            </a:r>
            <a:r>
              <a:rPr lang="en-US" sz="1250" b="1" dirty="0">
                <a:solidFill>
                  <a:schemeClr val="bg1"/>
                </a:solidFill>
                <a:latin typeface="Calibri" pitchFamily="34" charset="0"/>
                <a:ea typeface="Calibri" pitchFamily="34" charset="-122"/>
                <a:cs typeface="Calibri" pitchFamily="34" charset="-120"/>
              </a:rPr>
              <a:t>Segment</a:t>
            </a:r>
            <a:r>
              <a:rPr lang="en-US" sz="1250" b="1" dirty="0" smtClean="0">
                <a:solidFill>
                  <a:srgbClr val="FFFFFF"/>
                </a:solidFill>
                <a:latin typeface="Calibri" pitchFamily="34" charset="0"/>
                <a:ea typeface="Calibri" pitchFamily="34" charset="-122"/>
                <a:cs typeface="Calibri" pitchFamily="34" charset="-120"/>
              </a:rPr>
              <a:t> </a:t>
            </a:r>
            <a:endParaRPr lang="en-US" sz="1250" dirty="0"/>
          </a:p>
        </p:txBody>
      </p:sp>
      <p:sp>
        <p:nvSpPr>
          <p:cNvPr id="14" name="Text 12"/>
          <p:cNvSpPr txBox="1"/>
          <p:nvPr/>
        </p:nvSpPr>
        <p:spPr>
          <a:xfrm>
            <a:off x="5140234" y="3686012"/>
            <a:ext cx="1861718" cy="329184"/>
          </a:xfrm>
          <a:prstGeom prst="rect">
            <a:avLst/>
          </a:prstGeom>
          <a:noFill/>
          <a:ln/>
        </p:spPr>
        <p:txBody>
          <a:bodyPr wrap="square" lIns="0" tIns="0" rIns="0" bIns="0" rtlCol="0" anchor="t"/>
          <a:lstStyle/>
          <a:p>
            <a:pPr algn="ctr"/>
            <a:r>
              <a:rPr lang="en-US" sz="900" dirty="0" err="1" smtClean="0">
                <a:solidFill>
                  <a:schemeClr val="bg1"/>
                </a:solidFill>
                <a:latin typeface="Calibri" pitchFamily="34" charset="0"/>
                <a:ea typeface="Calibri" pitchFamily="34" charset="-122"/>
                <a:cs typeface="Calibri" pitchFamily="34" charset="-120"/>
              </a:rPr>
              <a:t>Ptime</a:t>
            </a:r>
            <a:r>
              <a:rPr lang="en-US" sz="900" dirty="0" smtClean="0">
                <a:solidFill>
                  <a:schemeClr val="bg1"/>
                </a:solidFill>
                <a:latin typeface="Calibri" pitchFamily="34" charset="0"/>
                <a:ea typeface="Calibri" pitchFamily="34" charset="-122"/>
                <a:cs typeface="Calibri" pitchFamily="34" charset="-120"/>
              </a:rPr>
              <a:t> </a:t>
            </a:r>
            <a:r>
              <a:rPr lang="en-US" sz="900" dirty="0">
                <a:solidFill>
                  <a:schemeClr val="bg1"/>
                </a:solidFill>
                <a:latin typeface="Calibri" pitchFamily="34" charset="0"/>
                <a:ea typeface="Calibri" pitchFamily="34" charset="-122"/>
                <a:cs typeface="Calibri" pitchFamily="34" charset="-120"/>
              </a:rPr>
              <a:t>Spend chunks, filter words, filtered and merged</a:t>
            </a:r>
            <a:endParaRPr lang="en-US" sz="900" dirty="0">
              <a:solidFill>
                <a:schemeClr val="bg1"/>
              </a:solidFill>
            </a:endParaRPr>
          </a:p>
          <a:p>
            <a:pPr marL="0" indent="0" algn="ctr">
              <a:buNone/>
            </a:pPr>
            <a:endParaRPr lang="en-US" sz="900" dirty="0"/>
          </a:p>
        </p:txBody>
      </p:sp>
      <p:sp>
        <p:nvSpPr>
          <p:cNvPr id="15" name="Shape 13"/>
          <p:cNvSpPr/>
          <p:nvPr/>
        </p:nvSpPr>
        <p:spPr>
          <a:xfrm>
            <a:off x="7103059" y="3328416"/>
            <a:ext cx="219456" cy="201168"/>
          </a:xfrm>
          <a:prstGeom prst="rightArrow">
            <a:avLst/>
          </a:prstGeom>
          <a:solidFill>
            <a:srgbClr val="56698A"/>
          </a:solidFill>
          <a:ln/>
        </p:spPr>
      </p:sp>
      <p:sp>
        <p:nvSpPr>
          <p:cNvPr id="16" name="Shape 14"/>
          <p:cNvSpPr/>
          <p:nvPr/>
        </p:nvSpPr>
        <p:spPr>
          <a:xfrm>
            <a:off x="7300504" y="2756590"/>
            <a:ext cx="2008022" cy="1371600"/>
          </a:xfrm>
          <a:prstGeom prst="roundRect">
            <a:avLst>
              <a:gd name="adj" fmla="val 5333"/>
            </a:avLst>
          </a:prstGeom>
          <a:solidFill>
            <a:srgbClr val="CADCFC"/>
          </a:solidFill>
          <a:ln/>
        </p:spPr>
      </p:sp>
      <p:sp>
        <p:nvSpPr>
          <p:cNvPr id="17" name="Text 15"/>
          <p:cNvSpPr txBox="1"/>
          <p:nvPr/>
        </p:nvSpPr>
        <p:spPr>
          <a:xfrm>
            <a:off x="7298284" y="2796105"/>
            <a:ext cx="1861718" cy="914400"/>
          </a:xfrm>
          <a:prstGeom prst="rect">
            <a:avLst/>
          </a:prstGeom>
          <a:noFill/>
          <a:ln/>
        </p:spPr>
        <p:txBody>
          <a:bodyPr wrap="square" lIns="0" tIns="0" rIns="0" bIns="0" rtlCol="0" anchor="t"/>
          <a:lstStyle/>
          <a:p>
            <a:pPr algn="ctr"/>
            <a:r>
              <a:rPr lang="en-US" sz="1250" b="1" dirty="0">
                <a:latin typeface="Calibri" pitchFamily="34" charset="0"/>
                <a:ea typeface="Calibri" pitchFamily="34" charset="-122"/>
                <a:cs typeface="Calibri" pitchFamily="34" charset="-120"/>
              </a:rPr>
              <a:t>4</a:t>
            </a:r>
            <a:r>
              <a:rPr lang="en-US" sz="1250" b="1" dirty="0" smtClean="0">
                <a:latin typeface="Calibri" pitchFamily="34" charset="0"/>
                <a:ea typeface="Calibri" pitchFamily="34" charset="-122"/>
                <a:cs typeface="Calibri" pitchFamily="34" charset="-120"/>
              </a:rPr>
              <a:t>. </a:t>
            </a:r>
            <a:r>
              <a:rPr lang="en-US" sz="1250" b="1" dirty="0" smtClean="0">
                <a:latin typeface="Calibri" pitchFamily="34" charset="0"/>
                <a:ea typeface="Calibri" pitchFamily="34" charset="-122"/>
                <a:cs typeface="Calibri" pitchFamily="34" charset="-120"/>
              </a:rPr>
              <a:t>Classify </a:t>
            </a:r>
            <a:r>
              <a:rPr lang="en-US" sz="1250" b="1" dirty="0">
                <a:latin typeface="Calibri" pitchFamily="34" charset="0"/>
                <a:ea typeface="Calibri" pitchFamily="34" charset="-122"/>
                <a:cs typeface="Calibri" pitchFamily="34" charset="-120"/>
              </a:rPr>
              <a:t>each segment</a:t>
            </a:r>
            <a:endParaRPr lang="en-US" sz="1250" dirty="0"/>
          </a:p>
        </p:txBody>
      </p:sp>
      <p:sp>
        <p:nvSpPr>
          <p:cNvPr id="18" name="Text 16"/>
          <p:cNvSpPr txBox="1"/>
          <p:nvPr/>
        </p:nvSpPr>
        <p:spPr>
          <a:xfrm>
            <a:off x="7409122" y="3736304"/>
            <a:ext cx="1861718" cy="329184"/>
          </a:xfrm>
          <a:prstGeom prst="rect">
            <a:avLst/>
          </a:prstGeom>
          <a:noFill/>
          <a:ln/>
        </p:spPr>
        <p:txBody>
          <a:bodyPr wrap="square" lIns="0" tIns="0" rIns="0" bIns="0" rtlCol="0" anchor="t"/>
          <a:lstStyle/>
          <a:p>
            <a:pPr algn="ctr"/>
            <a:r>
              <a:rPr lang="en-US" sz="900" dirty="0">
                <a:latin typeface="Calibri" pitchFamily="34" charset="0"/>
                <a:ea typeface="Calibri" pitchFamily="34" charset="-122"/>
                <a:cs typeface="Calibri" pitchFamily="34" charset="-120"/>
              </a:rPr>
              <a:t>Platt scaling turns the decision into an honest confidence %</a:t>
            </a:r>
            <a:endParaRPr lang="en-US" sz="900" dirty="0"/>
          </a:p>
        </p:txBody>
      </p:sp>
      <p:sp>
        <p:nvSpPr>
          <p:cNvPr id="19" name="Shape 17"/>
          <p:cNvSpPr/>
          <p:nvPr/>
        </p:nvSpPr>
        <p:spPr>
          <a:xfrm>
            <a:off x="9367114" y="3328416"/>
            <a:ext cx="219456" cy="201168"/>
          </a:xfrm>
          <a:prstGeom prst="rightArrow">
            <a:avLst/>
          </a:prstGeom>
          <a:solidFill>
            <a:srgbClr val="56698A"/>
          </a:solidFill>
          <a:ln/>
        </p:spPr>
      </p:sp>
      <p:sp>
        <p:nvSpPr>
          <p:cNvPr id="20" name="Shape 18"/>
          <p:cNvSpPr/>
          <p:nvPr/>
        </p:nvSpPr>
        <p:spPr>
          <a:xfrm>
            <a:off x="9604858" y="2743200"/>
            <a:ext cx="2008022" cy="1371600"/>
          </a:xfrm>
          <a:prstGeom prst="roundRect">
            <a:avLst>
              <a:gd name="adj" fmla="val 5333"/>
            </a:avLst>
          </a:prstGeom>
          <a:solidFill>
            <a:srgbClr val="D64550"/>
          </a:solidFill>
          <a:ln/>
        </p:spPr>
      </p:sp>
      <p:sp>
        <p:nvSpPr>
          <p:cNvPr id="21" name="Text 19"/>
          <p:cNvSpPr txBox="1"/>
          <p:nvPr/>
        </p:nvSpPr>
        <p:spPr>
          <a:xfrm>
            <a:off x="9678010" y="2816352"/>
            <a:ext cx="1861718" cy="9144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5. </a:t>
            </a:r>
            <a:r>
              <a:rPr lang="en-US" sz="1250" b="1" dirty="0" err="1" smtClean="0">
                <a:solidFill>
                  <a:srgbClr val="FFFFFF"/>
                </a:solidFill>
                <a:latin typeface="Calibri" pitchFamily="34" charset="0"/>
                <a:ea typeface="Calibri" pitchFamily="34" charset="-122"/>
                <a:cs typeface="Calibri" pitchFamily="34" charset="-120"/>
              </a:rPr>
              <a:t>Agregate</a:t>
            </a:r>
            <a:endParaRPr lang="en-US" sz="1250" dirty="0"/>
          </a:p>
        </p:txBody>
      </p:sp>
      <p:sp>
        <p:nvSpPr>
          <p:cNvPr id="22" name="Text 20"/>
          <p:cNvSpPr txBox="1"/>
          <p:nvPr/>
        </p:nvSpPr>
        <p:spPr>
          <a:xfrm>
            <a:off x="9678010" y="3730752"/>
            <a:ext cx="1861718" cy="329184"/>
          </a:xfrm>
          <a:prstGeom prst="rect">
            <a:avLst/>
          </a:prstGeom>
          <a:noFill/>
          <a:ln/>
        </p:spPr>
        <p:txBody>
          <a:bodyPr wrap="square" lIns="0" tIns="0" rIns="0" bIns="0" rtlCol="0" anchor="t"/>
          <a:lstStyle/>
          <a:p>
            <a:pPr marL="0" indent="0" algn="ctr">
              <a:buNone/>
            </a:pPr>
            <a:r>
              <a:rPr lang="en-US" sz="900" dirty="0" smtClean="0">
                <a:solidFill>
                  <a:srgbClr val="FFFFFF"/>
                </a:solidFill>
                <a:latin typeface="Calibri" pitchFamily="34" charset="0"/>
                <a:ea typeface="Calibri" pitchFamily="34" charset="-122"/>
                <a:cs typeface="Calibri" pitchFamily="34" charset="-120"/>
              </a:rPr>
              <a:t>Weighted score : call level high/Medium/Low</a:t>
            </a:r>
            <a:endParaRPr lang="en-US" sz="900" dirty="0"/>
          </a:p>
        </p:txBody>
      </p:sp>
      <p:sp>
        <p:nvSpPr>
          <p:cNvPr id="24" name="Text 22"/>
          <p:cNvSpPr txBox="1"/>
          <p:nvPr/>
        </p:nvSpPr>
        <p:spPr>
          <a:xfrm>
            <a:off x="6441621" y="4435493"/>
            <a:ext cx="5445579" cy="1965307"/>
          </a:xfrm>
          <a:prstGeom prst="rect">
            <a:avLst/>
          </a:prstGeom>
          <a:ln/>
        </p:spPr>
        <p:style>
          <a:lnRef idx="2">
            <a:schemeClr val="accent1">
              <a:shade val="50000"/>
            </a:schemeClr>
          </a:lnRef>
          <a:fillRef idx="1003">
            <a:schemeClr val="dk2"/>
          </a:fillRef>
          <a:effectRef idx="0">
            <a:schemeClr val="accent1"/>
          </a:effectRef>
          <a:fontRef idx="minor">
            <a:schemeClr val="lt1"/>
          </a:fontRef>
        </p:style>
        <p:txBody>
          <a:bodyPr wrap="square" lIns="0" tIns="0" rIns="0" bIns="0" rtlCol="0" anchor="ctr"/>
          <a:lstStyle/>
          <a:p>
            <a:r>
              <a:rPr lang="en-US" sz="1400" b="1" dirty="0">
                <a:solidFill>
                  <a:schemeClr val="tx1"/>
                </a:solidFill>
              </a:rPr>
              <a:t>Aggregation </a:t>
            </a:r>
            <a:r>
              <a:rPr lang="en-US" sz="1400" b="1" dirty="0" smtClean="0">
                <a:solidFill>
                  <a:schemeClr val="tx1"/>
                </a:solidFill>
              </a:rPr>
              <a:t>weights</a:t>
            </a:r>
          </a:p>
          <a:p>
            <a:endParaRPr lang="en-US" sz="1400" b="1" dirty="0"/>
          </a:p>
          <a:p>
            <a:r>
              <a:rPr lang="en-US" sz="1400" dirty="0"/>
              <a:t>• Max segment risk × </a:t>
            </a:r>
            <a:r>
              <a:rPr lang="en-US" sz="1400" dirty="0" smtClean="0"/>
              <a:t>0.35</a:t>
            </a:r>
          </a:p>
          <a:p>
            <a:endParaRPr lang="en-US" sz="1400" dirty="0"/>
          </a:p>
          <a:p>
            <a:r>
              <a:rPr lang="en-US" sz="1400" dirty="0"/>
              <a:t>• Weighted-mean segment risk × </a:t>
            </a:r>
            <a:r>
              <a:rPr lang="en-US" sz="1400" dirty="0" smtClean="0"/>
              <a:t>0.35</a:t>
            </a:r>
          </a:p>
          <a:p>
            <a:endParaRPr lang="en-US" sz="1400" dirty="0"/>
          </a:p>
          <a:p>
            <a:r>
              <a:rPr lang="en-US" sz="1400" dirty="0"/>
              <a:t>• Share of scam-flagged segments × 0.30 → risk score. High ≥ 0.60 · Medium ≥ 0.35 · Low &lt; 0.35</a:t>
            </a:r>
          </a:p>
        </p:txBody>
      </p:sp>
      <p:sp>
        <p:nvSpPr>
          <p:cNvPr id="25" name="Shape 23"/>
          <p:cNvSpPr/>
          <p:nvPr/>
        </p:nvSpPr>
        <p:spPr>
          <a:xfrm>
            <a:off x="548640" y="4435493"/>
            <a:ext cx="5476603" cy="2038459"/>
          </a:xfrm>
          <a:prstGeom prst="roundRect">
            <a:avLst>
              <a:gd name="adj" fmla="val 6957"/>
            </a:avLst>
          </a:prstGeom>
          <a:solidFill>
            <a:srgbClr val="E9F0FA"/>
          </a:solidFill>
          <a:ln/>
        </p:spPr>
      </p:sp>
      <p:sp>
        <p:nvSpPr>
          <p:cNvPr id="26" name="Text 24"/>
          <p:cNvSpPr txBox="1"/>
          <p:nvPr/>
        </p:nvSpPr>
        <p:spPr>
          <a:xfrm>
            <a:off x="621792" y="4539343"/>
            <a:ext cx="5403451" cy="1770017"/>
          </a:xfrm>
          <a:prstGeom prst="rect">
            <a:avLst/>
          </a:prstGeom>
          <a:noFill/>
          <a:ln/>
        </p:spPr>
        <p:txBody>
          <a:bodyPr wrap="square" lIns="0" tIns="0" rIns="0" bIns="0" rtlCol="0" anchor="ctr"/>
          <a:lstStyle/>
          <a:p>
            <a:r>
              <a:rPr lang="en-US" sz="1400" b="1" dirty="0"/>
              <a:t>Why this </a:t>
            </a:r>
            <a:r>
              <a:rPr lang="en-US" sz="1400" b="1" dirty="0" smtClean="0"/>
              <a:t>matters</a:t>
            </a:r>
          </a:p>
          <a:p>
            <a:endParaRPr lang="en-US" sz="1400" b="1" dirty="0"/>
          </a:p>
          <a:p>
            <a:r>
              <a:rPr lang="en-US" sz="1400" dirty="0"/>
              <a:t>• Live OTP social-engineering happens on calls, not </a:t>
            </a:r>
            <a:r>
              <a:rPr lang="en-US" sz="1400" dirty="0" smtClean="0"/>
              <a:t>texts</a:t>
            </a:r>
          </a:p>
          <a:p>
            <a:endParaRPr lang="en-US" sz="1400" dirty="0"/>
          </a:p>
          <a:p>
            <a:r>
              <a:rPr lang="en-US" sz="1400" dirty="0"/>
              <a:t>• We didn't build a second "brain" — we reused the trained text </a:t>
            </a:r>
            <a:r>
              <a:rPr lang="en-US" sz="1400" dirty="0" smtClean="0"/>
              <a:t>model </a:t>
            </a:r>
            <a:r>
              <a:rPr lang="en-US" sz="1400" dirty="0"/>
              <a:t>per </a:t>
            </a:r>
            <a:r>
              <a:rPr lang="en-US" sz="1400" dirty="0" smtClean="0"/>
              <a:t>segment</a:t>
            </a:r>
          </a:p>
          <a:p>
            <a:endParaRPr lang="en-US" sz="1400" dirty="0"/>
          </a:p>
          <a:p>
            <a:r>
              <a:rPr lang="en-US" sz="1400" dirty="0"/>
              <a:t>• Segment-level detail shows exactly which part of the call raised the flag</a:t>
            </a:r>
          </a:p>
        </p:txBody>
      </p:sp>
      <p:sp>
        <p:nvSpPr>
          <p:cNvPr id="28" name="Text 26"/>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06</a:t>
            </a:r>
            <a:endParaRPr lang="en-US" sz="1000" dirty="0"/>
          </a:p>
        </p:txBody>
      </p:sp>
    </p:spTree>
    <p:extLst>
      <p:ext uri="{BB962C8B-B14F-4D97-AF65-F5344CB8AC3E}">
        <p14:creationId xmlns:p14="http://schemas.microsoft.com/office/powerpoint/2010/main" val="4189787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3" grpId="0" animBg="1"/>
      <p:bldP spid="14" grpId="0" animBg="1"/>
      <p:bldP spid="17" grpId="0" animBg="1"/>
      <p:bldP spid="18"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9F0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INNOVATION AND THE TECHNOLOGY BEHIND IT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Why We Chose Lightweight Over Heavyweight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383282"/>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8332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Factor</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2294E"/>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TF-IDF + LinearSVC (our choice)</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2294E"/>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Transformer (e.g. BERT-style)</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2294E"/>
                    </a:solidFill>
                  </a:tcPr>
                </a:tc>
                <a:extLst>
                  <a:ext uri="{0D108BD9-81ED-4DB2-BD59-A6C34878D82A}">
                    <a16:rowId xmlns:a16="http://schemas.microsoft.com/office/drawing/2014/main" val="10000"/>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Speed</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&lt; 10 ms / message on CPU</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~50–300ms+, often needs a GPU</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Model size</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~3 MB</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100 MB – several GB</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Infra cost</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Runs on free-tier cloud</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Usually needs paid GPU hosting</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Data needed</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Works well on ~1,600 labelled messages</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Typically needs far more data / fine-tuning</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Explainability</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Exact words/phrases behind each verdict</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Much harder to explain to an end user</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r h="483326">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Offline capability</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b="1" dirty="0">
                          <a:solidFill>
                            <a:srgbClr val="2E9E5B"/>
                          </a:solidFill>
                          <a:latin typeface="Calibri" pitchFamily="34" charset="0"/>
                          <a:ea typeface="Calibri" pitchFamily="34" charset="-122"/>
                          <a:cs typeface="Calibri" pitchFamily="34" charset="-120"/>
                        </a:rPr>
                        <a:t>Fully local, zero per-call API cost</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250" dirty="0">
                          <a:solidFill>
                            <a:srgbClr val="1A2740"/>
                          </a:solidFill>
                          <a:latin typeface="Calibri" pitchFamily="34" charset="0"/>
                          <a:ea typeface="Calibri" pitchFamily="34" charset="-122"/>
                          <a:cs typeface="Calibri" pitchFamily="34" charset="-120"/>
                        </a:rPr>
                        <a:t>Often depends on cloud APIs</a:t>
                      </a:r>
                      <a:endParaRPr lang="en-US" sz="1250" dirty="0">
                        <a:latin typeface="Calibri" charset="0"/>
                        <a:ea typeface="Calibri" charset="0"/>
                        <a:cs typeface="Calibri" charset="0"/>
                      </a:endParaRPr>
                    </a:p>
                  </a:txBody>
                  <a:tcPr marL="101600" marR="101600" marT="50800" marB="5080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548640" y="5440680"/>
            <a:ext cx="11064240" cy="868680"/>
          </a:xfrm>
          <a:prstGeom prst="roundRect">
            <a:avLst>
              <a:gd name="adj" fmla="val 8421"/>
            </a:avLst>
          </a:prstGeom>
          <a:solidFill>
            <a:srgbClr val="12294E"/>
          </a:solidFill>
          <a:ln/>
        </p:spPr>
      </p:sp>
      <p:sp>
        <p:nvSpPr>
          <p:cNvPr id="6" name="Text 3"/>
          <p:cNvSpPr txBox="1"/>
          <p:nvPr/>
        </p:nvSpPr>
        <p:spPr>
          <a:xfrm>
            <a:off x="822960" y="5440680"/>
            <a:ext cx="10515600" cy="86868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A deliberate engineering trade-off for a real, deployable product </a:t>
            </a:r>
            <a:r>
              <a:rPr lang="en-US" sz="1350" i="1" dirty="0" smtClean="0">
                <a:solidFill>
                  <a:srgbClr val="FFFFFF"/>
                </a:solidFill>
                <a:latin typeface="Calibri" pitchFamily="34" charset="0"/>
                <a:ea typeface="Calibri" pitchFamily="34" charset="-122"/>
                <a:cs typeface="Calibri" pitchFamily="34" charset="-120"/>
              </a:rPr>
              <a:t>, </a:t>
            </a:r>
            <a:r>
              <a:rPr lang="en-US" sz="1350" i="1" dirty="0">
                <a:solidFill>
                  <a:srgbClr val="FFFFFF"/>
                </a:solidFill>
                <a:latin typeface="Calibri" pitchFamily="34" charset="0"/>
                <a:ea typeface="Calibri" pitchFamily="34" charset="-122"/>
                <a:cs typeface="Calibri" pitchFamily="34" charset="-120"/>
              </a:rPr>
              <a:t>not a shortcut. A transformer benchmark (mBERT / XLM-R) is next on our roadmap.</a:t>
            </a:r>
            <a:endParaRPr lang="en-US" sz="1350" dirty="0"/>
          </a:p>
        </p:txBody>
      </p:sp>
      <p:sp>
        <p:nvSpPr>
          <p:cNvPr id="7" name="Text 4"/>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08</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THE INNOVATION AND THE TECHNOLOGY BEHIND IT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700" b="1" dirty="0">
                <a:solidFill>
                  <a:srgbClr val="12294E"/>
                </a:solidFill>
                <a:latin typeface="Cambria" pitchFamily="34" charset="0"/>
                <a:ea typeface="Cambria" pitchFamily="34" charset="-122"/>
                <a:cs typeface="Cambria" pitchFamily="34" charset="-120"/>
              </a:rPr>
              <a:t>What Makes This Pakistan-First, Not </a:t>
            </a:r>
            <a:r>
              <a:rPr lang="en-US" sz="2700" b="1" dirty="0" smtClean="0">
                <a:solidFill>
                  <a:srgbClr val="12294E"/>
                </a:solidFill>
                <a:latin typeface="Cambria" pitchFamily="34" charset="0"/>
                <a:ea typeface="Cambria" pitchFamily="34" charset="-122"/>
                <a:cs typeface="Cambria" pitchFamily="34" charset="-120"/>
              </a:rPr>
              <a:t>Pakistan, Translated</a:t>
            </a:r>
            <a:endParaRPr lang="en-US" sz="2700" dirty="0"/>
          </a:p>
        </p:txBody>
      </p:sp>
      <p:sp>
        <p:nvSpPr>
          <p:cNvPr id="4" name="Shape 2"/>
          <p:cNvSpPr/>
          <p:nvPr/>
        </p:nvSpPr>
        <p:spPr>
          <a:xfrm>
            <a:off x="548640" y="1874520"/>
            <a:ext cx="5372100" cy="1874520"/>
          </a:xfrm>
          <a:prstGeom prst="roundRect">
            <a:avLst>
              <a:gd name="adj" fmla="val 3902"/>
            </a:avLst>
          </a:prstGeom>
          <a:solidFill>
            <a:srgbClr val="E9F0FA"/>
          </a:solidFill>
          <a:ln/>
          <a:effectLst>
            <a:outerShdw blurRad="101600" dist="38100" dir="5400000" algn="bl" rotWithShape="0">
              <a:srgbClr val="1A2740">
                <a:alpha val="18000"/>
              </a:srgbClr>
            </a:outerShdw>
          </a:effectLst>
        </p:spPr>
      </p:sp>
      <p:sp>
        <p:nvSpPr>
          <p:cNvPr id="5" name="Shape 3"/>
          <p:cNvSpPr/>
          <p:nvPr/>
        </p:nvSpPr>
        <p:spPr>
          <a:xfrm>
            <a:off x="804672" y="2130552"/>
            <a:ext cx="457200" cy="457200"/>
          </a:xfrm>
          <a:prstGeom prst="line">
            <a:avLst/>
          </a:prstGeom>
          <a:solidFill>
            <a:srgbClr val="12294E"/>
          </a:solidFill>
          <a:ln/>
        </p:spPr>
      </p:sp>
      <p:sp>
        <p:nvSpPr>
          <p:cNvPr id="6" name="Text 4"/>
          <p:cNvSpPr txBox="1"/>
          <p:nvPr/>
        </p:nvSpPr>
        <p:spPr>
          <a:xfrm>
            <a:off x="804672" y="2130552"/>
            <a:ext cx="457200" cy="457200"/>
          </a:xfrm>
          <a:prstGeom prst="rect">
            <a:avLst/>
          </a:prstGeom>
          <a:noFill/>
          <a:ln/>
        </p:spPr>
        <p:txBody>
          <a:bodyPr wrap="square" lIns="0" tIns="0" rIns="0" bIns="0" rtlCol="0" anchor="ctr"/>
          <a:lstStyle/>
          <a:p>
            <a:pPr marL="0" indent="0" algn="ctr">
              <a:buNone/>
            </a:pPr>
            <a:r>
              <a:rPr lang="en-US" sz="1800" b="1" dirty="0">
                <a:solidFill>
                  <a:srgbClr val="E0A937"/>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17320" y="2093976"/>
            <a:ext cx="4274820" cy="502920"/>
          </a:xfrm>
          <a:prstGeom prst="rect">
            <a:avLst/>
          </a:prstGeom>
          <a:noFill/>
          <a:ln/>
        </p:spPr>
        <p:txBody>
          <a:bodyPr wrap="square" lIns="0" tIns="0" rIns="0" bIns="0" rtlCol="0" anchor="ctr"/>
          <a:lstStyle/>
          <a:p>
            <a:pPr marL="0" indent="0">
              <a:buNone/>
            </a:pPr>
            <a:r>
              <a:rPr lang="en-US" sz="1450" b="1" dirty="0">
                <a:solidFill>
                  <a:srgbClr val="12294E"/>
                </a:solidFill>
                <a:latin typeface="Calibri" pitchFamily="34" charset="0"/>
                <a:ea typeface="Calibri" pitchFamily="34" charset="-122"/>
                <a:cs typeface="Calibri" pitchFamily="34" charset="-120"/>
              </a:rPr>
              <a:t>Multilingual Normalization</a:t>
            </a:r>
            <a:endParaRPr lang="en-US" sz="1450" dirty="0"/>
          </a:p>
        </p:txBody>
      </p:sp>
      <p:sp>
        <p:nvSpPr>
          <p:cNvPr id="8" name="Text 6"/>
          <p:cNvSpPr txBox="1"/>
          <p:nvPr/>
        </p:nvSpPr>
        <p:spPr>
          <a:xfrm>
            <a:off x="804672" y="2697480"/>
            <a:ext cx="4869180" cy="91440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15+ Roman Urdu spelling rules &amp; 10+ phrase rules — built for how Pakistanis actually type, not a generic English filter with translation bolted on.</a:t>
            </a:r>
            <a:endParaRPr lang="en-US" sz="1200" dirty="0"/>
          </a:p>
        </p:txBody>
      </p:sp>
      <p:sp>
        <p:nvSpPr>
          <p:cNvPr id="9" name="Shape 7"/>
          <p:cNvSpPr/>
          <p:nvPr/>
        </p:nvSpPr>
        <p:spPr>
          <a:xfrm>
            <a:off x="6240780" y="1874520"/>
            <a:ext cx="5372100" cy="1874520"/>
          </a:xfrm>
          <a:prstGeom prst="roundRect">
            <a:avLst>
              <a:gd name="adj" fmla="val 3902"/>
            </a:avLst>
          </a:prstGeom>
          <a:solidFill>
            <a:srgbClr val="E9F0FA"/>
          </a:solidFill>
          <a:ln/>
          <a:effectLst>
            <a:outerShdw blurRad="101600" dist="38100" dir="5400000" algn="bl" rotWithShape="0">
              <a:srgbClr val="1A2740">
                <a:alpha val="18000"/>
              </a:srgbClr>
            </a:outerShdw>
          </a:effectLst>
        </p:spPr>
      </p:sp>
      <p:sp>
        <p:nvSpPr>
          <p:cNvPr id="10" name="Shape 8"/>
          <p:cNvSpPr/>
          <p:nvPr/>
        </p:nvSpPr>
        <p:spPr>
          <a:xfrm>
            <a:off x="6496812" y="2130552"/>
            <a:ext cx="457200" cy="457200"/>
          </a:xfrm>
          <a:prstGeom prst="line">
            <a:avLst/>
          </a:prstGeom>
          <a:solidFill>
            <a:srgbClr val="12294E"/>
          </a:solidFill>
          <a:ln/>
        </p:spPr>
      </p:sp>
      <p:sp>
        <p:nvSpPr>
          <p:cNvPr id="11" name="Text 9"/>
          <p:cNvSpPr txBox="1"/>
          <p:nvPr/>
        </p:nvSpPr>
        <p:spPr>
          <a:xfrm>
            <a:off x="6496812" y="2130552"/>
            <a:ext cx="457200" cy="457200"/>
          </a:xfrm>
          <a:prstGeom prst="rect">
            <a:avLst/>
          </a:prstGeom>
          <a:noFill/>
          <a:ln/>
        </p:spPr>
        <p:txBody>
          <a:bodyPr wrap="square" lIns="0" tIns="0" rIns="0" bIns="0" rtlCol="0" anchor="ctr"/>
          <a:lstStyle/>
          <a:p>
            <a:pPr marL="0" indent="0" algn="ctr">
              <a:buNone/>
            </a:pPr>
            <a:r>
              <a:rPr lang="en-US" sz="1800" b="1" dirty="0">
                <a:solidFill>
                  <a:srgbClr val="E0A937"/>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7109460" y="2093976"/>
            <a:ext cx="4274820" cy="502920"/>
          </a:xfrm>
          <a:prstGeom prst="rect">
            <a:avLst/>
          </a:prstGeom>
          <a:noFill/>
          <a:ln/>
        </p:spPr>
        <p:txBody>
          <a:bodyPr wrap="square" lIns="0" tIns="0" rIns="0" bIns="0" rtlCol="0" anchor="ctr"/>
          <a:lstStyle/>
          <a:p>
            <a:pPr marL="0" indent="0">
              <a:buNone/>
            </a:pPr>
            <a:r>
              <a:rPr lang="en-US" sz="1450" b="1" dirty="0">
                <a:solidFill>
                  <a:srgbClr val="12294E"/>
                </a:solidFill>
                <a:latin typeface="Calibri" pitchFamily="34" charset="0"/>
                <a:ea typeface="Calibri" pitchFamily="34" charset="-122"/>
                <a:cs typeface="Calibri" pitchFamily="34" charset="-120"/>
              </a:rPr>
              <a:t>Hard-Negative Mining</a:t>
            </a:r>
            <a:endParaRPr lang="en-US" sz="1450" dirty="0"/>
          </a:p>
        </p:txBody>
      </p:sp>
      <p:sp>
        <p:nvSpPr>
          <p:cNvPr id="13" name="Text 11"/>
          <p:cNvSpPr txBox="1"/>
          <p:nvPr/>
        </p:nvSpPr>
        <p:spPr>
          <a:xfrm>
            <a:off x="6496812" y="2697480"/>
            <a:ext cx="4869180" cy="91440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We deliberately added safe messages that LOOK like scams — real bank deductions, genuine security alerts, legitimate OTPs — to cut false alarms.</a:t>
            </a:r>
            <a:endParaRPr lang="en-US" sz="1200" dirty="0"/>
          </a:p>
        </p:txBody>
      </p:sp>
      <p:sp>
        <p:nvSpPr>
          <p:cNvPr id="14" name="Shape 12"/>
          <p:cNvSpPr/>
          <p:nvPr/>
        </p:nvSpPr>
        <p:spPr>
          <a:xfrm>
            <a:off x="548640" y="4023360"/>
            <a:ext cx="5372100" cy="1874520"/>
          </a:xfrm>
          <a:prstGeom prst="roundRect">
            <a:avLst>
              <a:gd name="adj" fmla="val 3902"/>
            </a:avLst>
          </a:prstGeom>
          <a:solidFill>
            <a:srgbClr val="E9F0FA"/>
          </a:solidFill>
          <a:ln/>
          <a:effectLst>
            <a:outerShdw blurRad="101600" dist="38100" dir="5400000" algn="bl" rotWithShape="0">
              <a:srgbClr val="1A2740">
                <a:alpha val="18000"/>
              </a:srgbClr>
            </a:outerShdw>
          </a:effectLst>
        </p:spPr>
      </p:sp>
      <p:sp>
        <p:nvSpPr>
          <p:cNvPr id="15" name="Shape 13"/>
          <p:cNvSpPr/>
          <p:nvPr/>
        </p:nvSpPr>
        <p:spPr>
          <a:xfrm>
            <a:off x="804672" y="4279392"/>
            <a:ext cx="457200" cy="457200"/>
          </a:xfrm>
          <a:prstGeom prst="line">
            <a:avLst/>
          </a:prstGeom>
          <a:solidFill>
            <a:srgbClr val="12294E"/>
          </a:solidFill>
          <a:ln/>
        </p:spPr>
      </p:sp>
      <p:sp>
        <p:nvSpPr>
          <p:cNvPr id="16" name="Text 14"/>
          <p:cNvSpPr txBox="1"/>
          <p:nvPr/>
        </p:nvSpPr>
        <p:spPr>
          <a:xfrm>
            <a:off x="804672" y="4279392"/>
            <a:ext cx="457200" cy="457200"/>
          </a:xfrm>
          <a:prstGeom prst="rect">
            <a:avLst/>
          </a:prstGeom>
          <a:noFill/>
          <a:ln/>
        </p:spPr>
        <p:txBody>
          <a:bodyPr wrap="square" lIns="0" tIns="0" rIns="0" bIns="0" rtlCol="0" anchor="ctr"/>
          <a:lstStyle/>
          <a:p>
            <a:pPr marL="0" indent="0" algn="ctr">
              <a:buNone/>
            </a:pPr>
            <a:r>
              <a:rPr lang="en-US" sz="1800" b="1" dirty="0">
                <a:solidFill>
                  <a:srgbClr val="E0A937"/>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417320" y="4242816"/>
            <a:ext cx="4274820" cy="502920"/>
          </a:xfrm>
          <a:prstGeom prst="rect">
            <a:avLst/>
          </a:prstGeom>
          <a:noFill/>
          <a:ln/>
        </p:spPr>
        <p:txBody>
          <a:bodyPr wrap="square" lIns="0" tIns="0" rIns="0" bIns="0" rtlCol="0" anchor="ctr"/>
          <a:lstStyle/>
          <a:p>
            <a:pPr marL="0" indent="0">
              <a:buNone/>
            </a:pPr>
            <a:r>
              <a:rPr lang="en-US" sz="1450" b="1" dirty="0">
                <a:solidFill>
                  <a:srgbClr val="12294E"/>
                </a:solidFill>
                <a:latin typeface="Calibri" pitchFamily="34" charset="0"/>
                <a:ea typeface="Calibri" pitchFamily="34" charset="-122"/>
                <a:cs typeface="Calibri" pitchFamily="34" charset="-120"/>
              </a:rPr>
              <a:t>Transparent Signal Detection</a:t>
            </a:r>
            <a:endParaRPr lang="en-US" sz="1450" dirty="0"/>
          </a:p>
        </p:txBody>
      </p:sp>
      <p:sp>
        <p:nvSpPr>
          <p:cNvPr id="18" name="Text 16"/>
          <p:cNvSpPr txBox="1"/>
          <p:nvPr/>
        </p:nvSpPr>
        <p:spPr>
          <a:xfrm>
            <a:off x="804672" y="4846320"/>
            <a:ext cx="4869180" cy="91440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Six rule-based flag categories (urgency, financial request, credential/OTP request, prize/lottery, threats, OTP-specific) shown separately from the model's verdict.</a:t>
            </a:r>
            <a:endParaRPr lang="en-US" sz="1200" dirty="0"/>
          </a:p>
        </p:txBody>
      </p:sp>
      <p:sp>
        <p:nvSpPr>
          <p:cNvPr id="19" name="Shape 17"/>
          <p:cNvSpPr/>
          <p:nvPr/>
        </p:nvSpPr>
        <p:spPr>
          <a:xfrm>
            <a:off x="6240780" y="4023360"/>
            <a:ext cx="5372100" cy="1874520"/>
          </a:xfrm>
          <a:prstGeom prst="roundRect">
            <a:avLst>
              <a:gd name="adj" fmla="val 3902"/>
            </a:avLst>
          </a:prstGeom>
          <a:solidFill>
            <a:srgbClr val="E9F0FA"/>
          </a:solidFill>
          <a:ln/>
          <a:effectLst>
            <a:outerShdw blurRad="101600" dist="38100" dir="5400000" algn="bl" rotWithShape="0">
              <a:srgbClr val="1A2740">
                <a:alpha val="18000"/>
              </a:srgbClr>
            </a:outerShdw>
          </a:effectLst>
        </p:spPr>
      </p:sp>
      <p:sp>
        <p:nvSpPr>
          <p:cNvPr id="20" name="Shape 18"/>
          <p:cNvSpPr/>
          <p:nvPr/>
        </p:nvSpPr>
        <p:spPr>
          <a:xfrm>
            <a:off x="6496812" y="4279392"/>
            <a:ext cx="457200" cy="457200"/>
          </a:xfrm>
          <a:prstGeom prst="line">
            <a:avLst/>
          </a:prstGeom>
          <a:solidFill>
            <a:srgbClr val="12294E"/>
          </a:solidFill>
          <a:ln/>
        </p:spPr>
      </p:sp>
      <p:sp>
        <p:nvSpPr>
          <p:cNvPr id="21" name="Text 19"/>
          <p:cNvSpPr txBox="1"/>
          <p:nvPr/>
        </p:nvSpPr>
        <p:spPr>
          <a:xfrm>
            <a:off x="6496812" y="4279392"/>
            <a:ext cx="457200" cy="457200"/>
          </a:xfrm>
          <a:prstGeom prst="rect">
            <a:avLst/>
          </a:prstGeom>
          <a:noFill/>
          <a:ln/>
        </p:spPr>
        <p:txBody>
          <a:bodyPr wrap="square" lIns="0" tIns="0" rIns="0" bIns="0" rtlCol="0" anchor="ctr"/>
          <a:lstStyle/>
          <a:p>
            <a:pPr marL="0" indent="0" algn="ctr">
              <a:buNone/>
            </a:pPr>
            <a:r>
              <a:rPr lang="en-US" sz="1800" b="1" dirty="0">
                <a:solidFill>
                  <a:srgbClr val="E0A937"/>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109460" y="4242816"/>
            <a:ext cx="4274820" cy="502920"/>
          </a:xfrm>
          <a:prstGeom prst="rect">
            <a:avLst/>
          </a:prstGeom>
          <a:noFill/>
          <a:ln/>
        </p:spPr>
        <p:txBody>
          <a:bodyPr wrap="square" lIns="0" tIns="0" rIns="0" bIns="0" rtlCol="0" anchor="ctr"/>
          <a:lstStyle/>
          <a:p>
            <a:pPr marL="0" indent="0">
              <a:buNone/>
            </a:pPr>
            <a:r>
              <a:rPr lang="en-US" sz="1450" b="1" dirty="0">
                <a:solidFill>
                  <a:srgbClr val="12294E"/>
                </a:solidFill>
                <a:latin typeface="Calibri" pitchFamily="34" charset="0"/>
                <a:ea typeface="Calibri" pitchFamily="34" charset="-122"/>
                <a:cs typeface="Calibri" pitchFamily="34" charset="-120"/>
              </a:rPr>
              <a:t>Leakage-Safe Splitting</a:t>
            </a:r>
            <a:endParaRPr lang="en-US" sz="1450" dirty="0"/>
          </a:p>
        </p:txBody>
      </p:sp>
      <p:sp>
        <p:nvSpPr>
          <p:cNvPr id="23" name="Text 21"/>
          <p:cNvSpPr txBox="1"/>
          <p:nvPr/>
        </p:nvSpPr>
        <p:spPr>
          <a:xfrm>
            <a:off x="6496812" y="4846320"/>
            <a:ext cx="4869180" cy="91440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Group-aware train/test splitting with verified zero overlap — so every performance number in this deck is trustworthy, not inflated.</a:t>
            </a:r>
            <a:endParaRPr lang="en-US" sz="1200" dirty="0"/>
          </a:p>
        </p:txBody>
      </p:sp>
      <p:sp>
        <p:nvSpPr>
          <p:cNvPr id="24" name="Text 22"/>
          <p:cNvSpPr txBox="1"/>
          <p:nvPr/>
        </p:nvSpPr>
        <p:spPr>
          <a:xfrm>
            <a:off x="548640" y="6263640"/>
            <a:ext cx="11064240" cy="365760"/>
          </a:xfrm>
          <a:prstGeom prst="rect">
            <a:avLst/>
          </a:prstGeom>
          <a:noFill/>
          <a:ln/>
        </p:spPr>
        <p:txBody>
          <a:bodyPr wrap="square" lIns="0" tIns="0" rIns="0" bIns="0" rtlCol="0" anchor="ctr"/>
          <a:lstStyle/>
          <a:p>
            <a:pPr marL="0" indent="0">
              <a:buNone/>
            </a:pPr>
            <a:r>
              <a:rPr lang="en-US" sz="1250" b="1" dirty="0">
                <a:solidFill>
                  <a:srgbClr val="D64550"/>
                </a:solidFill>
                <a:latin typeface="Calibri" pitchFamily="34" charset="0"/>
                <a:ea typeface="Calibri" pitchFamily="34" charset="-122"/>
                <a:cs typeface="Calibri" pitchFamily="34" charset="-120"/>
              </a:rPr>
              <a:t>Proof it worked: hard-negative mining cut false positives from 48 → 1 on the 505-message adversarial test set — a 48x improvement.</a:t>
            </a:r>
            <a:endParaRPr lang="en-US" sz="1250" dirty="0"/>
          </a:p>
        </p:txBody>
      </p:sp>
      <p:sp>
        <p:nvSpPr>
          <p:cNvPr id="25" name="Text 23"/>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09</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97000">
              <a:srgbClr val="677B9E"/>
            </a:gs>
            <a:gs pos="0">
              <a:srgbClr val="3F557D"/>
            </a:gs>
            <a:gs pos="25240">
              <a:srgbClr val="617699"/>
            </a:gs>
            <a:gs pos="99000">
              <a:schemeClr val="accent1">
                <a:lumMod val="50000"/>
              </a:schemeClr>
            </a:gs>
            <a:gs pos="100000">
              <a:schemeClr val="accent1">
                <a:lumMod val="30000"/>
                <a:lumOff val="70000"/>
              </a:schemeClr>
            </a:gs>
          </a:gsLst>
          <a:lin ang="16800000" scaled="0"/>
          <a:tileRect/>
        </a:gra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400" b="1" kern="0" spc="200" dirty="0" smtClean="0">
                <a:solidFill>
                  <a:srgbClr val="E0A937"/>
                </a:solidFill>
                <a:latin typeface="Calibri" pitchFamily="34" charset="0"/>
                <a:ea typeface="Calibri" pitchFamily="34" charset="-122"/>
                <a:cs typeface="Calibri" pitchFamily="34" charset="-120"/>
              </a:rPr>
              <a:t>THE INNOVATION AND THE TECHNOLOGY BEHIND IT</a:t>
            </a:r>
            <a:endParaRPr lang="en-US" sz="1400" dirty="0"/>
          </a:p>
        </p:txBody>
      </p:sp>
      <p:sp>
        <p:nvSpPr>
          <p:cNvPr id="3" name="Text 1"/>
          <p:cNvSpPr txBox="1"/>
          <p:nvPr/>
        </p:nvSpPr>
        <p:spPr>
          <a:xfrm>
            <a:off x="548640" y="704088"/>
            <a:ext cx="11064240" cy="822960"/>
          </a:xfrm>
          <a:prstGeom prst="rect">
            <a:avLst/>
          </a:prstGeom>
          <a:noFill/>
          <a:ln/>
        </p:spPr>
        <p:txBody>
          <a:bodyPr wrap="square" lIns="0" tIns="0" rIns="0" bIns="0" rtlCol="0" anchor="ctr"/>
          <a:lstStyle/>
          <a:p>
            <a:pPr marL="0" indent="0" algn="l">
              <a:buNone/>
            </a:pPr>
            <a:r>
              <a:rPr lang="en-US" sz="2700" b="1" dirty="0">
                <a:solidFill>
                  <a:srgbClr val="FFFFFF"/>
                </a:solidFill>
                <a:latin typeface="Cambria" pitchFamily="34" charset="0"/>
                <a:ea typeface="Cambria" pitchFamily="34" charset="-122"/>
                <a:cs typeface="Cambria" pitchFamily="34" charset="-120"/>
              </a:rPr>
              <a:t>O</a:t>
            </a:r>
            <a:r>
              <a:rPr lang="en-US" sz="2700" b="1" dirty="0" smtClean="0">
                <a:solidFill>
                  <a:srgbClr val="FFFFFF"/>
                </a:solidFill>
                <a:latin typeface="Cambria" pitchFamily="34" charset="0"/>
                <a:ea typeface="Cambria" pitchFamily="34" charset="-122"/>
                <a:cs typeface="Cambria" pitchFamily="34" charset="-120"/>
              </a:rPr>
              <a:t>ur Hardest Problem: Teaching a Model to Read Roman Urdu</a:t>
            </a:r>
            <a:endParaRPr lang="en-US" sz="2700" dirty="0"/>
          </a:p>
        </p:txBody>
      </p:sp>
      <p:sp>
        <p:nvSpPr>
          <p:cNvPr id="11" name="Text 9"/>
          <p:cNvSpPr txBox="1"/>
          <p:nvPr/>
        </p:nvSpPr>
        <p:spPr>
          <a:xfrm>
            <a:off x="548640" y="1657350"/>
            <a:ext cx="5486400" cy="4816602"/>
          </a:xfrm>
          <a:prstGeom prst="rect">
            <a:avLst/>
          </a:prstGeom>
          <a:noFill/>
          <a:ln/>
        </p:spPr>
        <p:txBody>
          <a:bodyPr wrap="square" lIns="0" tIns="0" rIns="0" bIns="0" rtlCol="0" anchor="t"/>
          <a:lstStyle/>
          <a:p>
            <a:r>
              <a:rPr lang="en-US" sz="1600" b="1" dirty="0"/>
              <a:t>The </a:t>
            </a:r>
            <a:r>
              <a:rPr lang="en-US" sz="1600" b="1" dirty="0" smtClean="0"/>
              <a:t>Problem</a:t>
            </a:r>
            <a:br>
              <a:rPr lang="en-US" sz="1600" b="1" dirty="0" smtClean="0"/>
            </a:br>
            <a:endParaRPr lang="en-US" sz="1600" b="1" dirty="0"/>
          </a:p>
          <a:p>
            <a:r>
              <a:rPr lang="en-US" sz="1600" dirty="0"/>
              <a:t>• </a:t>
            </a:r>
            <a:r>
              <a:rPr lang="en-US" sz="1600" b="1" dirty="0"/>
              <a:t>Roman Urdu has no fixed spelling.</a:t>
            </a:r>
            <a:r>
              <a:rPr lang="en-US" sz="1600" dirty="0"/>
              <a:t> The same word can legitimately appear a dozen ways </a:t>
            </a:r>
            <a:r>
              <a:rPr lang="en-US" sz="1600" dirty="0" smtClean="0"/>
              <a:t>: </a:t>
            </a:r>
            <a:r>
              <a:rPr lang="en-US" sz="1600" dirty="0"/>
              <a:t>“</a:t>
            </a:r>
            <a:r>
              <a:rPr lang="en-US" sz="1600" dirty="0" err="1"/>
              <a:t>batayein</a:t>
            </a:r>
            <a:r>
              <a:rPr lang="en-US" sz="1600" dirty="0"/>
              <a:t>,” “</a:t>
            </a:r>
            <a:r>
              <a:rPr lang="en-US" sz="1600" dirty="0" err="1"/>
              <a:t>btaen</a:t>
            </a:r>
            <a:r>
              <a:rPr lang="en-US" sz="1600" dirty="0"/>
              <a:t>,” “</a:t>
            </a:r>
            <a:r>
              <a:rPr lang="en-US" sz="1600" dirty="0" err="1"/>
              <a:t>bta</a:t>
            </a:r>
            <a:r>
              <a:rPr lang="en-US" sz="1600" dirty="0"/>
              <a:t> </a:t>
            </a:r>
            <a:r>
              <a:rPr lang="en-US" sz="1600" dirty="0" err="1"/>
              <a:t>dena</a:t>
            </a:r>
            <a:r>
              <a:rPr lang="en-US" sz="1600" dirty="0"/>
              <a:t>,” “</a:t>
            </a:r>
            <a:r>
              <a:rPr lang="en-US" sz="1600" dirty="0" err="1"/>
              <a:t>bataen</a:t>
            </a:r>
            <a:r>
              <a:rPr lang="en-US" sz="1600" dirty="0"/>
              <a:t>” </a:t>
            </a:r>
            <a:r>
              <a:rPr lang="en-US" sz="1600" dirty="0" smtClean="0"/>
              <a:t>, because </a:t>
            </a:r>
            <a:r>
              <a:rPr lang="en-US" sz="1600" dirty="0"/>
              <a:t>it’s a spoken language typed phonetically, not a standardized written one</a:t>
            </a:r>
            <a:r>
              <a:rPr lang="en-US" sz="1600" dirty="0" smtClean="0"/>
              <a:t>.</a:t>
            </a:r>
          </a:p>
          <a:p>
            <a:endParaRPr lang="en-US" sz="1600" dirty="0"/>
          </a:p>
          <a:p>
            <a:r>
              <a:rPr lang="en-US" sz="1600" dirty="0"/>
              <a:t>• </a:t>
            </a:r>
            <a:r>
              <a:rPr lang="en-US" sz="1600" b="1" dirty="0"/>
              <a:t>There was no ready-made Pakistani Roman Urdu scam dataset to train on</a:t>
            </a:r>
            <a:r>
              <a:rPr lang="en-US" sz="1600" dirty="0"/>
              <a:t> </a:t>
            </a:r>
            <a:r>
              <a:rPr lang="en-US" sz="1600" dirty="0" smtClean="0"/>
              <a:t>, </a:t>
            </a:r>
            <a:r>
              <a:rPr lang="en-US" sz="1600" dirty="0"/>
              <a:t>most of it had to be collected, labelled, and normalized by hand</a:t>
            </a:r>
            <a:r>
              <a:rPr lang="en-US" sz="1600" dirty="0" smtClean="0"/>
              <a:t>.</a:t>
            </a:r>
          </a:p>
          <a:p>
            <a:endParaRPr lang="en-US" sz="1600" dirty="0"/>
          </a:p>
          <a:p>
            <a:r>
              <a:rPr lang="en-US" sz="1600" dirty="0"/>
              <a:t>• </a:t>
            </a:r>
            <a:r>
              <a:rPr lang="en-US" sz="1600" b="1" dirty="0"/>
              <a:t>Real messages constantly code-switch mid-sentence</a:t>
            </a:r>
            <a:r>
              <a:rPr lang="en-US" sz="1600" dirty="0"/>
              <a:t> between English, Roman Urdu, and Urdu script, so the model couldn’t just be told “expect one language.”</a:t>
            </a:r>
          </a:p>
          <a:p>
            <a:endParaRPr lang="en-US" sz="1600" dirty="0" smtClean="0"/>
          </a:p>
          <a:p>
            <a:r>
              <a:rPr lang="en-US" sz="1600" dirty="0" smtClean="0"/>
              <a:t>• </a:t>
            </a:r>
            <a:r>
              <a:rPr lang="en-US" sz="1600" b="1" dirty="0"/>
              <a:t>Early versions over-corrected</a:t>
            </a:r>
            <a:r>
              <a:rPr lang="en-US" sz="1600" dirty="0"/>
              <a:t> </a:t>
            </a:r>
            <a:r>
              <a:rPr lang="en-US" sz="1600" dirty="0" smtClean="0"/>
              <a:t>, </a:t>
            </a:r>
            <a:r>
              <a:rPr lang="en-US" sz="1600" dirty="0"/>
              <a:t>flagging harmless Roman Urdu texts just for sounding informal </a:t>
            </a:r>
            <a:r>
              <a:rPr lang="en-US" sz="1600" dirty="0" smtClean="0"/>
              <a:t>, </a:t>
            </a:r>
            <a:r>
              <a:rPr lang="en-US" sz="1600" dirty="0"/>
              <a:t>which is exactly the false-positive problem hard-negative mining was later built to fix.</a:t>
            </a:r>
          </a:p>
        </p:txBody>
      </p:sp>
      <p:sp>
        <p:nvSpPr>
          <p:cNvPr id="14" name="Text 12"/>
          <p:cNvSpPr txBox="1"/>
          <p:nvPr/>
        </p:nvSpPr>
        <p:spPr>
          <a:xfrm>
            <a:off x="6319157" y="1657350"/>
            <a:ext cx="5293723" cy="4816602"/>
          </a:xfrm>
          <a:prstGeom prst="rect">
            <a:avLst/>
          </a:prstGeom>
          <a:noFill/>
          <a:ln/>
        </p:spPr>
        <p:txBody>
          <a:bodyPr wrap="square" lIns="0" tIns="0" rIns="0" bIns="0" rtlCol="0" anchor="t"/>
          <a:lstStyle/>
          <a:p>
            <a:r>
              <a:rPr lang="en-US" sz="1600" b="1" dirty="0"/>
              <a:t>How we solved </a:t>
            </a:r>
            <a:r>
              <a:rPr lang="en-US" sz="1600" b="1" dirty="0" smtClean="0"/>
              <a:t>it</a:t>
            </a:r>
          </a:p>
          <a:p>
            <a:endParaRPr lang="en-US" sz="1600" dirty="0"/>
          </a:p>
          <a:p>
            <a:r>
              <a:rPr lang="en-US" sz="1600" dirty="0"/>
              <a:t>• </a:t>
            </a:r>
            <a:r>
              <a:rPr lang="en-US" sz="1600" b="1" dirty="0"/>
              <a:t>Hand-built 15+ Roman Urdu spelling-normalization rules and 10+ phrase-normalization rules</a:t>
            </a:r>
            <a:r>
              <a:rPr lang="en-US" sz="1600" dirty="0"/>
              <a:t> so spelling variants collapse to one form before the model even sees them.</a:t>
            </a:r>
          </a:p>
          <a:p>
            <a:endParaRPr lang="en-US" sz="1600" dirty="0" smtClean="0"/>
          </a:p>
          <a:p>
            <a:r>
              <a:rPr lang="en-US" sz="1600" dirty="0" smtClean="0"/>
              <a:t>• </a:t>
            </a:r>
            <a:r>
              <a:rPr lang="en-US" sz="1600" b="1" dirty="0"/>
              <a:t>Combined word-level AND </a:t>
            </a:r>
            <a:r>
              <a:rPr lang="en-US" sz="1600" b="1" dirty="0" smtClean="0"/>
              <a:t>character, level </a:t>
            </a:r>
            <a:r>
              <a:rPr lang="en-US" sz="1600" b="1" dirty="0"/>
              <a:t>TF-IDF,</a:t>
            </a:r>
            <a:r>
              <a:rPr lang="en-US" sz="1600" dirty="0"/>
              <a:t> so even a misspelling the rules didn’t anticipate still shares recognizable letter patterns with known scam words.</a:t>
            </a:r>
          </a:p>
          <a:p>
            <a:endParaRPr lang="en-US" sz="1600" dirty="0" smtClean="0"/>
          </a:p>
          <a:p>
            <a:r>
              <a:rPr lang="en-US" sz="1600" dirty="0" smtClean="0"/>
              <a:t>• </a:t>
            </a:r>
            <a:r>
              <a:rPr lang="en-US" sz="1600" b="1" dirty="0"/>
              <a:t>Iteratively expanded the dataset specifically with hard Roman Urdu and mixed-language examples</a:t>
            </a:r>
            <a:r>
              <a:rPr lang="en-US" sz="1600" dirty="0"/>
              <a:t> across three model versions (V1 → V3 → V4).</a:t>
            </a:r>
          </a:p>
          <a:p>
            <a:endParaRPr lang="en-US" sz="1600" dirty="0" smtClean="0"/>
          </a:p>
          <a:p>
            <a:r>
              <a:rPr lang="en-US" sz="1600" dirty="0" smtClean="0"/>
              <a:t>• </a:t>
            </a:r>
            <a:r>
              <a:rPr lang="en-US" sz="1600" b="1" dirty="0"/>
              <a:t>Result: 99.4% accuracy on Roman Urdu / mixed messages</a:t>
            </a:r>
            <a:r>
              <a:rPr lang="en-US" sz="1600" dirty="0"/>
              <a:t> </a:t>
            </a:r>
            <a:r>
              <a:rPr lang="en-US" sz="1600" dirty="0" smtClean="0"/>
              <a:t>, </a:t>
            </a:r>
            <a:r>
              <a:rPr lang="en-US" sz="1600" dirty="0"/>
              <a:t>nearly matching English, despite this being the messiest, least standardized input we handle.</a:t>
            </a:r>
          </a:p>
        </p:txBody>
      </p:sp>
      <p:sp>
        <p:nvSpPr>
          <p:cNvPr id="15" name="Text 13"/>
          <p:cNvSpPr txBox="1"/>
          <p:nvPr/>
        </p:nvSpPr>
        <p:spPr>
          <a:xfrm>
            <a:off x="11475720" y="6473952"/>
            <a:ext cx="548640" cy="274320"/>
          </a:xfrm>
          <a:prstGeom prst="rect">
            <a:avLst/>
          </a:prstGeom>
          <a:noFill/>
          <a:ln/>
        </p:spPr>
        <p:txBody>
          <a:bodyPr wrap="square" rtlCol="0" anchor="ctr"/>
          <a:lstStyle/>
          <a:p>
            <a:pPr marL="0" indent="0" algn="r">
              <a:buNone/>
            </a:pPr>
            <a:r>
              <a:rPr lang="en-US" sz="1000" dirty="0" smtClean="0">
                <a:solidFill>
                  <a:srgbClr val="CADCFC"/>
                </a:solidFill>
                <a:latin typeface="Calibri" pitchFamily="34" charset="0"/>
                <a:ea typeface="Calibri" pitchFamily="34" charset="-122"/>
                <a:cs typeface="Calibri" pitchFamily="34" charset="-120"/>
              </a:rPr>
              <a:t>10</a:t>
            </a:r>
            <a:endParaRPr lang="en-US" sz="1000" dirty="0"/>
          </a:p>
        </p:txBody>
      </p:sp>
    </p:spTree>
    <p:extLst>
      <p:ext uri="{BB962C8B-B14F-4D97-AF65-F5344CB8AC3E}">
        <p14:creationId xmlns:p14="http://schemas.microsoft.com/office/powerpoint/2010/main" val="228174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E9F0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FEASIBILITY, AND WHAT WE HAVE ACTUALLY BUILT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700" b="1" dirty="0">
                <a:solidFill>
                  <a:srgbClr val="12294E"/>
                </a:solidFill>
                <a:latin typeface="Cambria" pitchFamily="34" charset="0"/>
                <a:ea typeface="Cambria" pitchFamily="34" charset="-122"/>
                <a:cs typeface="Cambria" pitchFamily="34" charset="-120"/>
              </a:rPr>
              <a:t>Tested Four Independent Ways. Never Once Faked.</a:t>
            </a:r>
            <a:endParaRPr lang="en-US" sz="2700" dirty="0"/>
          </a:p>
        </p:txBody>
      </p:sp>
      <p:graphicFrame>
        <p:nvGraphicFramePr>
          <p:cNvPr id="4" name="Chart 0"/>
          <p:cNvGraphicFramePr/>
          <p:nvPr/>
        </p:nvGraphicFramePr>
        <p:xfrm>
          <a:off x="457200" y="1783080"/>
          <a:ext cx="1124712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57200" y="5715000"/>
            <a:ext cx="11247120" cy="868680"/>
          </a:xfrm>
          <a:prstGeom prst="roundRect">
            <a:avLst>
              <a:gd name="adj" fmla="val 8421"/>
            </a:avLst>
          </a:prstGeom>
          <a:solidFill>
            <a:srgbClr val="12294E"/>
          </a:solidFill>
          <a:ln/>
        </p:spPr>
      </p:sp>
      <p:sp>
        <p:nvSpPr>
          <p:cNvPr id="6" name="Text 3"/>
          <p:cNvSpPr txBox="1"/>
          <p:nvPr/>
        </p:nvSpPr>
        <p:spPr>
          <a:xfrm>
            <a:off x="777240" y="5715000"/>
            <a:ext cx="10607040" cy="868680"/>
          </a:xfrm>
          <a:prstGeom prst="rect">
            <a:avLst/>
          </a:prstGeom>
          <a:noFill/>
          <a:ln/>
        </p:spPr>
        <p:txBody>
          <a:bodyPr wrap="square" lIns="0" tIns="0" rIns="0" bIns="0" rtlCol="0" anchor="ctr"/>
          <a:lstStyle/>
          <a:p>
            <a:pPr marL="0" indent="0">
              <a:buNone/>
            </a:pPr>
            <a:r>
              <a:rPr lang="en-US" sz="1500" b="1" dirty="0">
                <a:solidFill>
                  <a:srgbClr val="E0A937"/>
                </a:solidFill>
                <a:latin typeface="Calibri" pitchFamily="34" charset="0"/>
                <a:ea typeface="Calibri" pitchFamily="34" charset="-122"/>
                <a:cs typeface="Calibri" pitchFamily="34" charset="-120"/>
              </a:rPr>
              <a:t>Headline: </a:t>
            </a:r>
            <a:r>
              <a:rPr lang="en-US" sz="1500" dirty="0">
                <a:solidFill>
                  <a:srgbClr val="FFFFFF"/>
                </a:solidFill>
                <a:latin typeface="Calibri" pitchFamily="34" charset="0"/>
                <a:ea typeface="Calibri" pitchFamily="34" charset="-122"/>
                <a:cs typeface="Calibri" pitchFamily="34" charset="-120"/>
              </a:rPr>
              <a:t>97.48% accuracy on the toughest test </a:t>
            </a:r>
            <a:r>
              <a:rPr lang="en-US" sz="1500" dirty="0" smtClean="0">
                <a:solidFill>
                  <a:srgbClr val="FFFFFF"/>
                </a:solidFill>
                <a:latin typeface="Calibri" pitchFamily="34" charset="0"/>
                <a:ea typeface="Calibri" pitchFamily="34" charset="-122"/>
                <a:cs typeface="Calibri" pitchFamily="34" charset="-120"/>
              </a:rPr>
              <a:t>: </a:t>
            </a:r>
            <a:r>
              <a:rPr lang="en-US" sz="1500" dirty="0" smtClean="0">
                <a:solidFill>
                  <a:srgbClr val="FFFFFF"/>
                </a:solidFill>
                <a:latin typeface="Calibri" pitchFamily="34" charset="0"/>
                <a:ea typeface="Calibri" pitchFamily="34" charset="-122"/>
                <a:cs typeface="Calibri" pitchFamily="34" charset="-120"/>
              </a:rPr>
              <a:t>318 </a:t>
            </a:r>
            <a:r>
              <a:rPr lang="en-US" sz="1500" dirty="0">
                <a:solidFill>
                  <a:srgbClr val="FFFFFF"/>
                </a:solidFill>
                <a:latin typeface="Calibri" pitchFamily="34" charset="0"/>
                <a:ea typeface="Calibri" pitchFamily="34" charset="-122"/>
                <a:cs typeface="Calibri" pitchFamily="34" charset="-120"/>
              </a:rPr>
              <a:t>never-before-seen multilingual messages (All-4 External).</a:t>
            </a:r>
            <a:endParaRPr lang="en-US" sz="1500" dirty="0"/>
          </a:p>
        </p:txBody>
      </p:sp>
      <p:sp>
        <p:nvSpPr>
          <p:cNvPr id="7" name="Text 4"/>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E0A937"/>
                </a:solidFill>
                <a:latin typeface="Calibri" pitchFamily="34" charset="0"/>
                <a:ea typeface="Calibri" pitchFamily="34" charset="-122"/>
                <a:cs typeface="Calibri" pitchFamily="34" charset="-120"/>
              </a:rPr>
              <a:t>THE NEED IT ADDRESSES, AND THE IMPACT IT MAKES</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700" b="1" dirty="0">
                <a:solidFill>
                  <a:srgbClr val="FFFFFF"/>
                </a:solidFill>
                <a:latin typeface="Cambria" pitchFamily="34" charset="0"/>
                <a:ea typeface="Cambria" pitchFamily="34" charset="-122"/>
                <a:cs typeface="Cambria" pitchFamily="34" charset="-120"/>
              </a:rPr>
              <a:t>Built Cheap Enough to Actually Reach 190 Million People</a:t>
            </a:r>
            <a:endParaRPr lang="en-US" sz="2700" dirty="0"/>
          </a:p>
        </p:txBody>
      </p:sp>
      <p:sp>
        <p:nvSpPr>
          <p:cNvPr id="4" name="Text 2"/>
          <p:cNvSpPr txBox="1"/>
          <p:nvPr/>
        </p:nvSpPr>
        <p:spPr>
          <a:xfrm>
            <a:off x="822960" y="2011680"/>
            <a:ext cx="3291840" cy="731520"/>
          </a:xfrm>
          <a:prstGeom prst="rect">
            <a:avLst/>
          </a:prstGeom>
          <a:noFill/>
          <a:ln/>
        </p:spPr>
        <p:txBody>
          <a:bodyPr wrap="square" lIns="0" tIns="0" rIns="0" bIns="0" rtlCol="0" anchor="ctr"/>
          <a:lstStyle/>
          <a:p>
            <a:pPr marL="0" indent="0" algn="ctr">
              <a:buNone/>
            </a:pPr>
            <a:r>
              <a:rPr lang="en-US" sz="4400" b="1" dirty="0">
                <a:solidFill>
                  <a:srgbClr val="E0A937"/>
                </a:solidFill>
                <a:latin typeface="Cambria" pitchFamily="34" charset="0"/>
                <a:ea typeface="Cambria" pitchFamily="34" charset="-122"/>
                <a:cs typeface="Cambria" pitchFamily="34" charset="-120"/>
              </a:rPr>
              <a:t>190M+</a:t>
            </a:r>
            <a:endParaRPr lang="en-US" sz="4400" dirty="0"/>
          </a:p>
        </p:txBody>
      </p:sp>
      <p:sp>
        <p:nvSpPr>
          <p:cNvPr id="5" name="Text 3"/>
          <p:cNvSpPr txBox="1"/>
          <p:nvPr/>
        </p:nvSpPr>
        <p:spPr>
          <a:xfrm>
            <a:off x="822960" y="2724912"/>
            <a:ext cx="3291840" cy="320040"/>
          </a:xfrm>
          <a:prstGeom prst="rect">
            <a:avLst/>
          </a:prstGeom>
          <a:noFill/>
          <a:ln/>
        </p:spPr>
        <p:txBody>
          <a:bodyPr wrap="square" lIns="0" tIns="0" rIns="0" bIns="0" rtlCol="0" anchor="t"/>
          <a:lstStyle/>
          <a:p>
            <a:pPr marL="0" indent="0" algn="ctr">
              <a:buNone/>
            </a:pPr>
            <a:r>
              <a:rPr lang="en-US" sz="1200" dirty="0">
                <a:solidFill>
                  <a:srgbClr val="56698A"/>
                </a:solidFill>
                <a:latin typeface="Calibri" pitchFamily="34" charset="0"/>
                <a:ea typeface="Calibri" pitchFamily="34" charset="-122"/>
                <a:cs typeface="Calibri" pitchFamily="34" charset="-120"/>
              </a:rPr>
              <a:t>Mobile connections in Pakistan</a:t>
            </a:r>
            <a:endParaRPr lang="en-US" sz="1200" dirty="0"/>
          </a:p>
        </p:txBody>
      </p:sp>
      <p:sp>
        <p:nvSpPr>
          <p:cNvPr id="6" name="Text 4"/>
          <p:cNvSpPr txBox="1"/>
          <p:nvPr/>
        </p:nvSpPr>
        <p:spPr>
          <a:xfrm>
            <a:off x="4480560" y="2011680"/>
            <a:ext cx="3291840" cy="731520"/>
          </a:xfrm>
          <a:prstGeom prst="rect">
            <a:avLst/>
          </a:prstGeom>
          <a:noFill/>
          <a:ln/>
        </p:spPr>
        <p:txBody>
          <a:bodyPr wrap="square" lIns="0" tIns="0" rIns="0" bIns="0" rtlCol="0" anchor="ctr"/>
          <a:lstStyle/>
          <a:p>
            <a:pPr marL="0" indent="0" algn="ctr">
              <a:buNone/>
            </a:pPr>
            <a:r>
              <a:rPr lang="en-US" sz="4400" b="1" dirty="0">
                <a:solidFill>
                  <a:srgbClr val="E0A937"/>
                </a:solidFill>
                <a:latin typeface="Cambria" pitchFamily="34" charset="0"/>
                <a:ea typeface="Cambria" pitchFamily="34" charset="-122"/>
                <a:cs typeface="Cambria" pitchFamily="34" charset="-120"/>
              </a:rPr>
              <a:t>&lt;10ms</a:t>
            </a:r>
            <a:endParaRPr lang="en-US" sz="4400" dirty="0"/>
          </a:p>
        </p:txBody>
      </p:sp>
      <p:sp>
        <p:nvSpPr>
          <p:cNvPr id="7" name="Text 5"/>
          <p:cNvSpPr txBox="1"/>
          <p:nvPr/>
        </p:nvSpPr>
        <p:spPr>
          <a:xfrm>
            <a:off x="4480560" y="2724912"/>
            <a:ext cx="3291840" cy="320040"/>
          </a:xfrm>
          <a:prstGeom prst="rect">
            <a:avLst/>
          </a:prstGeom>
          <a:noFill/>
          <a:ln/>
        </p:spPr>
        <p:txBody>
          <a:bodyPr wrap="square" lIns="0" tIns="0" rIns="0" bIns="0" rtlCol="0" anchor="t"/>
          <a:lstStyle/>
          <a:p>
            <a:pPr marL="0" indent="0" algn="ctr">
              <a:buNone/>
            </a:pPr>
            <a:r>
              <a:rPr lang="en-US" sz="1200" dirty="0">
                <a:solidFill>
                  <a:srgbClr val="56698A"/>
                </a:solidFill>
                <a:latin typeface="Calibri" pitchFamily="34" charset="0"/>
                <a:ea typeface="Calibri" pitchFamily="34" charset="-122"/>
                <a:cs typeface="Calibri" pitchFamily="34" charset="-120"/>
              </a:rPr>
              <a:t>Per-message cost, no GPU required</a:t>
            </a:r>
            <a:endParaRPr lang="en-US" sz="1200" dirty="0"/>
          </a:p>
        </p:txBody>
      </p:sp>
      <p:sp>
        <p:nvSpPr>
          <p:cNvPr id="8" name="Text 6"/>
          <p:cNvSpPr txBox="1"/>
          <p:nvPr/>
        </p:nvSpPr>
        <p:spPr>
          <a:xfrm>
            <a:off x="8138160" y="2011680"/>
            <a:ext cx="3291840" cy="731520"/>
          </a:xfrm>
          <a:prstGeom prst="rect">
            <a:avLst/>
          </a:prstGeom>
          <a:noFill/>
          <a:ln/>
        </p:spPr>
        <p:txBody>
          <a:bodyPr wrap="square" lIns="0" tIns="0" rIns="0" bIns="0" rtlCol="0" anchor="ctr"/>
          <a:lstStyle/>
          <a:p>
            <a:pPr marL="0" indent="0" algn="ctr">
              <a:buNone/>
            </a:pPr>
            <a:r>
              <a:rPr lang="en-US" sz="4400" b="1" dirty="0">
                <a:solidFill>
                  <a:srgbClr val="E0A937"/>
                </a:solidFill>
                <a:latin typeface="Cambria" pitchFamily="34" charset="0"/>
                <a:ea typeface="Cambria" pitchFamily="34" charset="-122"/>
                <a:cs typeface="Cambria" pitchFamily="34" charset="-120"/>
              </a:rPr>
              <a:t>~3MB</a:t>
            </a:r>
            <a:endParaRPr lang="en-US" sz="4400" dirty="0"/>
          </a:p>
        </p:txBody>
      </p:sp>
      <p:sp>
        <p:nvSpPr>
          <p:cNvPr id="9" name="Text 7"/>
          <p:cNvSpPr txBox="1"/>
          <p:nvPr/>
        </p:nvSpPr>
        <p:spPr>
          <a:xfrm>
            <a:off x="8138160" y="2724912"/>
            <a:ext cx="3291840" cy="320040"/>
          </a:xfrm>
          <a:prstGeom prst="rect">
            <a:avLst/>
          </a:prstGeom>
          <a:noFill/>
          <a:ln/>
        </p:spPr>
        <p:txBody>
          <a:bodyPr wrap="square" lIns="0" tIns="0" rIns="0" bIns="0" rtlCol="0" anchor="t"/>
          <a:lstStyle/>
          <a:p>
            <a:pPr marL="0" indent="0" algn="ctr">
              <a:buNone/>
            </a:pPr>
            <a:r>
              <a:rPr lang="en-US" sz="1200" dirty="0">
                <a:solidFill>
                  <a:srgbClr val="56698A"/>
                </a:solidFill>
                <a:latin typeface="Calibri" pitchFamily="34" charset="0"/>
                <a:ea typeface="Calibri" pitchFamily="34" charset="-122"/>
                <a:cs typeface="Calibri" pitchFamily="34" charset="-120"/>
              </a:rPr>
              <a:t>Total model size </a:t>
            </a:r>
            <a:r>
              <a:rPr lang="en-US" sz="1200" dirty="0" smtClean="0">
                <a:solidFill>
                  <a:srgbClr val="56698A"/>
                </a:solidFill>
                <a:latin typeface="Calibri" pitchFamily="34" charset="0"/>
                <a:ea typeface="Calibri" pitchFamily="34" charset="-122"/>
                <a:cs typeface="Calibri" pitchFamily="34" charset="-120"/>
              </a:rPr>
              <a:t>, </a:t>
            </a:r>
            <a:r>
              <a:rPr lang="en-US" sz="1200" dirty="0">
                <a:solidFill>
                  <a:srgbClr val="56698A"/>
                </a:solidFill>
                <a:latin typeface="Calibri" pitchFamily="34" charset="0"/>
                <a:ea typeface="Calibri" pitchFamily="34" charset="-122"/>
                <a:cs typeface="Calibri" pitchFamily="34" charset="-120"/>
              </a:rPr>
              <a:t>easy to deploy</a:t>
            </a:r>
            <a:endParaRPr lang="en-US" sz="1200" dirty="0"/>
          </a:p>
        </p:txBody>
      </p:sp>
      <p:sp>
        <p:nvSpPr>
          <p:cNvPr id="10" name="Shape 8"/>
          <p:cNvSpPr/>
          <p:nvPr/>
        </p:nvSpPr>
        <p:spPr>
          <a:xfrm>
            <a:off x="822960" y="3310128"/>
            <a:ext cx="10515600" cy="0"/>
          </a:xfrm>
          <a:prstGeom prst="line">
            <a:avLst/>
          </a:prstGeom>
          <a:noFill/>
          <a:ln w="12700">
            <a:solidFill>
              <a:srgbClr val="CADCFC"/>
            </a:solidFill>
            <a:prstDash val="solid"/>
          </a:ln>
        </p:spPr>
      </p:sp>
      <p:sp>
        <p:nvSpPr>
          <p:cNvPr id="11" name="Text 9"/>
          <p:cNvSpPr txBox="1"/>
          <p:nvPr/>
        </p:nvSpPr>
        <p:spPr>
          <a:xfrm>
            <a:off x="822960" y="3520440"/>
            <a:ext cx="5212080" cy="2743200"/>
          </a:xfrm>
          <a:prstGeom prst="rect">
            <a:avLst/>
          </a:prstGeom>
          <a:noFill/>
          <a:ln/>
        </p:spPr>
        <p:txBody>
          <a:bodyPr wrap="square" lIns="0" tIns="0" rIns="0" bIns="0" rtlCol="0" anchor="t"/>
          <a:lstStyle/>
          <a:p>
            <a:pPr marL="228600" indent="-2286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Banks &amp; </a:t>
            </a:r>
            <a:r>
              <a:rPr lang="en-US" sz="1400" dirty="0" err="1">
                <a:solidFill>
                  <a:srgbClr val="FFFFFF"/>
                </a:solidFill>
                <a:latin typeface="Calibri" pitchFamily="34" charset="0"/>
                <a:ea typeface="Calibri" pitchFamily="34" charset="-122"/>
                <a:cs typeface="Calibri" pitchFamily="34" charset="-120"/>
              </a:rPr>
              <a:t>fintechs</a:t>
            </a:r>
            <a:r>
              <a:rPr lang="en-US" sz="1400" dirty="0">
                <a:solidFill>
                  <a:srgbClr val="FFFFFF"/>
                </a:solidFill>
                <a:latin typeface="Calibri" pitchFamily="34" charset="0"/>
                <a:ea typeface="Calibri" pitchFamily="34" charset="-122"/>
                <a:cs typeface="Calibri" pitchFamily="34" charset="-120"/>
              </a:rPr>
              <a:t> </a:t>
            </a:r>
            <a:r>
              <a:rPr lang="en-US" sz="1400" dirty="0" smtClean="0">
                <a:solidFill>
                  <a:srgbClr val="FFFFFF"/>
                </a:solidFill>
                <a:latin typeface="Calibri" pitchFamily="34" charset="0"/>
                <a:ea typeface="Calibri" pitchFamily="34" charset="-122"/>
                <a:cs typeface="Calibri" pitchFamily="34" charset="-120"/>
              </a:rPr>
              <a:t>: </a:t>
            </a:r>
            <a:r>
              <a:rPr lang="en-US" sz="1400" dirty="0">
                <a:solidFill>
                  <a:srgbClr val="FFFFFF"/>
                </a:solidFill>
                <a:latin typeface="Calibri" pitchFamily="34" charset="0"/>
                <a:ea typeface="Calibri" pitchFamily="34" charset="-122"/>
                <a:cs typeface="Calibri" pitchFamily="34" charset="-120"/>
              </a:rPr>
              <a:t>embed as a fraud-warning layer in mobile banking apps</a:t>
            </a:r>
            <a:endParaRPr lang="en-US" sz="1400" dirty="0"/>
          </a:p>
          <a:p>
            <a:pPr marL="228600" indent="-2286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Telecoms </a:t>
            </a:r>
            <a:r>
              <a:rPr lang="en-US" sz="1400" dirty="0" smtClean="0">
                <a:solidFill>
                  <a:srgbClr val="FFFFFF"/>
                </a:solidFill>
                <a:latin typeface="Calibri" pitchFamily="34" charset="0"/>
                <a:ea typeface="Calibri" pitchFamily="34" charset="-122"/>
                <a:cs typeface="Calibri" pitchFamily="34" charset="-120"/>
              </a:rPr>
              <a:t>: </a:t>
            </a:r>
            <a:r>
              <a:rPr lang="en-US" sz="1400" dirty="0">
                <a:solidFill>
                  <a:srgbClr val="FFFFFF"/>
                </a:solidFill>
                <a:latin typeface="Calibri" pitchFamily="34" charset="0"/>
                <a:ea typeface="Calibri" pitchFamily="34" charset="-122"/>
                <a:cs typeface="Calibri" pitchFamily="34" charset="-120"/>
              </a:rPr>
              <a:t>screen inbound SMS traffic at the gateway level</a:t>
            </a:r>
            <a:endParaRPr lang="en-US" sz="1400" dirty="0"/>
          </a:p>
          <a:p>
            <a:pPr marL="228600" indent="-2286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NGOs &amp; helplines </a:t>
            </a:r>
            <a:r>
              <a:rPr lang="en-US" sz="1400" dirty="0" smtClean="0">
                <a:solidFill>
                  <a:srgbClr val="FFFFFF"/>
                </a:solidFill>
                <a:latin typeface="Calibri" pitchFamily="34" charset="0"/>
                <a:ea typeface="Calibri" pitchFamily="34" charset="-122"/>
                <a:cs typeface="Calibri" pitchFamily="34" charset="-120"/>
              </a:rPr>
              <a:t>: </a:t>
            </a:r>
            <a:r>
              <a:rPr lang="en-US" sz="1400" dirty="0">
                <a:solidFill>
                  <a:srgbClr val="FFFFFF"/>
                </a:solidFill>
                <a:latin typeface="Calibri" pitchFamily="34" charset="0"/>
                <a:ea typeface="Calibri" pitchFamily="34" charset="-122"/>
                <a:cs typeface="Calibri" pitchFamily="34" charset="-120"/>
              </a:rPr>
              <a:t>give field workers an instant second opinion for elderly or rural clients</a:t>
            </a:r>
            <a:endParaRPr lang="en-US" sz="1400" dirty="0"/>
          </a:p>
        </p:txBody>
      </p:sp>
      <p:sp>
        <p:nvSpPr>
          <p:cNvPr id="12" name="Shape 10"/>
          <p:cNvSpPr/>
          <p:nvPr/>
        </p:nvSpPr>
        <p:spPr>
          <a:xfrm>
            <a:off x="6309360" y="3520440"/>
            <a:ext cx="5029200" cy="2743200"/>
          </a:xfrm>
          <a:prstGeom prst="roundRect">
            <a:avLst>
              <a:gd name="adj" fmla="val 2667"/>
            </a:avLst>
          </a:prstGeom>
          <a:solidFill>
            <a:srgbClr val="0F2245"/>
          </a:solidFill>
          <a:ln/>
        </p:spPr>
      </p:sp>
      <p:sp>
        <p:nvSpPr>
          <p:cNvPr id="13" name="Text 11"/>
          <p:cNvSpPr txBox="1"/>
          <p:nvPr/>
        </p:nvSpPr>
        <p:spPr>
          <a:xfrm>
            <a:off x="6583680" y="3657600"/>
            <a:ext cx="4480560" cy="365760"/>
          </a:xfrm>
          <a:prstGeom prst="rect">
            <a:avLst/>
          </a:prstGeom>
          <a:noFill/>
          <a:ln/>
        </p:spPr>
        <p:txBody>
          <a:bodyPr wrap="square" lIns="0" tIns="0" rIns="0" bIns="0" rtlCol="0" anchor="ctr"/>
          <a:lstStyle/>
          <a:p>
            <a:pPr marL="0" indent="0">
              <a:buNone/>
            </a:pPr>
            <a:r>
              <a:rPr lang="en-US" sz="1400" b="1" dirty="0">
                <a:solidFill>
                  <a:srgbClr val="E0A937"/>
                </a:solidFill>
                <a:latin typeface="Calibri" pitchFamily="34" charset="0"/>
                <a:ea typeface="Calibri" pitchFamily="34" charset="-122"/>
                <a:cs typeface="Calibri" pitchFamily="34" charset="-120"/>
              </a:rPr>
              <a:t>Why cost matters for reach</a:t>
            </a:r>
            <a:endParaRPr lang="en-US" sz="1400" dirty="0"/>
          </a:p>
        </p:txBody>
      </p:sp>
      <p:sp>
        <p:nvSpPr>
          <p:cNvPr id="14" name="Text 12"/>
          <p:cNvSpPr txBox="1"/>
          <p:nvPr/>
        </p:nvSpPr>
        <p:spPr>
          <a:xfrm>
            <a:off x="6583680" y="4069080"/>
            <a:ext cx="4480560" cy="210312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Most fraud-detection AI requires GPU hosting that only well-funded institutions can afford. Because Muhafiz runs on free-tier infrastructure, it's realistic for smaller telecoms, regional banks, and non-profits </a:t>
            </a:r>
            <a:r>
              <a:rPr lang="en-US" sz="1250" dirty="0" smtClean="0">
                <a:solidFill>
                  <a:srgbClr val="CADCFC"/>
                </a:solidFill>
                <a:latin typeface="Calibri" pitchFamily="34" charset="0"/>
                <a:ea typeface="Calibri" pitchFamily="34" charset="-122"/>
                <a:cs typeface="Calibri" pitchFamily="34" charset="-120"/>
              </a:rPr>
              <a:t>, </a:t>
            </a:r>
            <a:r>
              <a:rPr lang="en-US" sz="1250" dirty="0" smtClean="0">
                <a:solidFill>
                  <a:srgbClr val="CADCFC"/>
                </a:solidFill>
                <a:latin typeface="Calibri" pitchFamily="34" charset="0"/>
                <a:ea typeface="Calibri" pitchFamily="34" charset="-122"/>
                <a:cs typeface="Calibri" pitchFamily="34" charset="-120"/>
              </a:rPr>
              <a:t>not </a:t>
            </a:r>
            <a:r>
              <a:rPr lang="en-US" sz="1250" dirty="0">
                <a:solidFill>
                  <a:srgbClr val="CADCFC"/>
                </a:solidFill>
                <a:latin typeface="Calibri" pitchFamily="34" charset="0"/>
                <a:ea typeface="Calibri" pitchFamily="34" charset="-122"/>
                <a:cs typeface="Calibri" pitchFamily="34" charset="-120"/>
              </a:rPr>
              <a:t>just large enterprises </a:t>
            </a:r>
            <a:r>
              <a:rPr lang="en-US" sz="1250" dirty="0" smtClean="0">
                <a:solidFill>
                  <a:srgbClr val="CADCFC"/>
                </a:solidFill>
                <a:latin typeface="Calibri" pitchFamily="34" charset="0"/>
                <a:ea typeface="Calibri" pitchFamily="34" charset="-122"/>
                <a:cs typeface="Calibri" pitchFamily="34" charset="-120"/>
              </a:rPr>
              <a:t>, </a:t>
            </a:r>
            <a:r>
              <a:rPr lang="en-US" sz="1250" dirty="0">
                <a:solidFill>
                  <a:srgbClr val="CADCFC"/>
                </a:solidFill>
                <a:latin typeface="Calibri" pitchFamily="34" charset="0"/>
                <a:ea typeface="Calibri" pitchFamily="34" charset="-122"/>
                <a:cs typeface="Calibri" pitchFamily="34" charset="-120"/>
              </a:rPr>
              <a:t>to deploy real protection for their users.</a:t>
            </a:r>
            <a:endParaRPr lang="en-US" sz="1250" dirty="0"/>
          </a:p>
        </p:txBody>
      </p:sp>
      <p:sp>
        <p:nvSpPr>
          <p:cNvPr id="15" name="Text 13"/>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13</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FEASIBILITY, AND WHAT WE HAVE ACTUALLY BUILT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What's Shipped, and What's Next</a:t>
            </a:r>
            <a:endParaRPr lang="en-US" sz="2800" dirty="0"/>
          </a:p>
        </p:txBody>
      </p:sp>
      <p:sp>
        <p:nvSpPr>
          <p:cNvPr id="4" name="Text 2"/>
          <p:cNvSpPr txBox="1"/>
          <p:nvPr/>
        </p:nvSpPr>
        <p:spPr>
          <a:xfrm>
            <a:off x="548640" y="1874520"/>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Binary Scam/Safe text classification</a:t>
            </a:r>
            <a:endParaRPr lang="en-US" sz="1350" dirty="0"/>
          </a:p>
        </p:txBody>
      </p:sp>
      <p:sp>
        <p:nvSpPr>
          <p:cNvPr id="5" name="Shape 3"/>
          <p:cNvSpPr/>
          <p:nvPr/>
        </p:nvSpPr>
        <p:spPr>
          <a:xfrm>
            <a:off x="8686800" y="1929384"/>
            <a:ext cx="2011680" cy="347472"/>
          </a:xfrm>
          <a:prstGeom prst="roundRect">
            <a:avLst>
              <a:gd name="adj" fmla="val 50000"/>
            </a:avLst>
          </a:prstGeom>
          <a:solidFill>
            <a:srgbClr val="2E9E5B"/>
          </a:solidFill>
          <a:ln/>
        </p:spPr>
      </p:sp>
      <p:sp>
        <p:nvSpPr>
          <p:cNvPr id="6" name="Text 4"/>
          <p:cNvSpPr txBox="1"/>
          <p:nvPr/>
        </p:nvSpPr>
        <p:spPr>
          <a:xfrm>
            <a:off x="8686800" y="1929384"/>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Shipped</a:t>
            </a:r>
            <a:endParaRPr lang="en-US" sz="1100" dirty="0"/>
          </a:p>
        </p:txBody>
      </p:sp>
      <p:sp>
        <p:nvSpPr>
          <p:cNvPr id="7" name="Text 5"/>
          <p:cNvSpPr txBox="1"/>
          <p:nvPr/>
        </p:nvSpPr>
        <p:spPr>
          <a:xfrm>
            <a:off x="548640" y="2404872"/>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Audio call analysis (transcription + segment classification)</a:t>
            </a:r>
            <a:endParaRPr lang="en-US" sz="1350" dirty="0"/>
          </a:p>
        </p:txBody>
      </p:sp>
      <p:sp>
        <p:nvSpPr>
          <p:cNvPr id="8" name="Shape 6"/>
          <p:cNvSpPr/>
          <p:nvPr/>
        </p:nvSpPr>
        <p:spPr>
          <a:xfrm>
            <a:off x="8686800" y="2459736"/>
            <a:ext cx="2011680" cy="347472"/>
          </a:xfrm>
          <a:prstGeom prst="roundRect">
            <a:avLst>
              <a:gd name="adj" fmla="val 50000"/>
            </a:avLst>
          </a:prstGeom>
          <a:solidFill>
            <a:srgbClr val="2E9E5B"/>
          </a:solidFill>
          <a:ln/>
        </p:spPr>
      </p:sp>
      <p:sp>
        <p:nvSpPr>
          <p:cNvPr id="9" name="Text 7"/>
          <p:cNvSpPr txBox="1"/>
          <p:nvPr/>
        </p:nvSpPr>
        <p:spPr>
          <a:xfrm>
            <a:off x="8686800" y="2459736"/>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Shipped</a:t>
            </a:r>
            <a:endParaRPr lang="en-US" sz="1100" dirty="0"/>
          </a:p>
        </p:txBody>
      </p:sp>
      <p:sp>
        <p:nvSpPr>
          <p:cNvPr id="10" name="Text 8"/>
          <p:cNvSpPr txBox="1"/>
          <p:nvPr/>
        </p:nvSpPr>
        <p:spPr>
          <a:xfrm>
            <a:off x="548640" y="2935224"/>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Multilingual support </a:t>
            </a:r>
            <a:r>
              <a:rPr lang="en-US" sz="1350" dirty="0" smtClean="0">
                <a:solidFill>
                  <a:srgbClr val="1A2740"/>
                </a:solidFill>
                <a:latin typeface="Calibri" pitchFamily="34" charset="0"/>
                <a:ea typeface="Calibri" pitchFamily="34" charset="-122"/>
                <a:cs typeface="Calibri" pitchFamily="34" charset="-120"/>
              </a:rPr>
              <a:t>: </a:t>
            </a:r>
            <a:r>
              <a:rPr lang="en-US" sz="1350" dirty="0">
                <a:solidFill>
                  <a:srgbClr val="1A2740"/>
                </a:solidFill>
                <a:latin typeface="Calibri" pitchFamily="34" charset="0"/>
                <a:ea typeface="Calibri" pitchFamily="34" charset="-122"/>
                <a:cs typeface="Calibri" pitchFamily="34" charset="-120"/>
              </a:rPr>
              <a:t>EN / Urdu / Roman Urdu / Mixed</a:t>
            </a:r>
            <a:endParaRPr lang="en-US" sz="1350" dirty="0"/>
          </a:p>
        </p:txBody>
      </p:sp>
      <p:sp>
        <p:nvSpPr>
          <p:cNvPr id="11" name="Shape 9"/>
          <p:cNvSpPr/>
          <p:nvPr/>
        </p:nvSpPr>
        <p:spPr>
          <a:xfrm>
            <a:off x="8686800" y="2990088"/>
            <a:ext cx="2011680" cy="347472"/>
          </a:xfrm>
          <a:prstGeom prst="roundRect">
            <a:avLst>
              <a:gd name="adj" fmla="val 50000"/>
            </a:avLst>
          </a:prstGeom>
          <a:solidFill>
            <a:srgbClr val="2E9E5B"/>
          </a:solidFill>
          <a:ln/>
        </p:spPr>
      </p:sp>
      <p:sp>
        <p:nvSpPr>
          <p:cNvPr id="12" name="Text 10"/>
          <p:cNvSpPr txBox="1"/>
          <p:nvPr/>
        </p:nvSpPr>
        <p:spPr>
          <a:xfrm>
            <a:off x="8686800" y="2990088"/>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Shipped</a:t>
            </a:r>
            <a:endParaRPr lang="en-US" sz="1100" dirty="0"/>
          </a:p>
        </p:txBody>
      </p:sp>
      <p:sp>
        <p:nvSpPr>
          <p:cNvPr id="13" name="Text 11"/>
          <p:cNvSpPr txBox="1"/>
          <p:nvPr/>
        </p:nvSpPr>
        <p:spPr>
          <a:xfrm>
            <a:off x="548640" y="3465576"/>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Full web app with public API</a:t>
            </a:r>
            <a:endParaRPr lang="en-US" sz="1350" dirty="0"/>
          </a:p>
        </p:txBody>
      </p:sp>
      <p:sp>
        <p:nvSpPr>
          <p:cNvPr id="14" name="Shape 12"/>
          <p:cNvSpPr/>
          <p:nvPr/>
        </p:nvSpPr>
        <p:spPr>
          <a:xfrm>
            <a:off x="8686800" y="3520440"/>
            <a:ext cx="2011680" cy="347472"/>
          </a:xfrm>
          <a:prstGeom prst="roundRect">
            <a:avLst>
              <a:gd name="adj" fmla="val 50000"/>
            </a:avLst>
          </a:prstGeom>
          <a:solidFill>
            <a:srgbClr val="2E9E5B"/>
          </a:solidFill>
          <a:ln/>
        </p:spPr>
      </p:sp>
      <p:sp>
        <p:nvSpPr>
          <p:cNvPr id="15" name="Text 13"/>
          <p:cNvSpPr txBox="1"/>
          <p:nvPr/>
        </p:nvSpPr>
        <p:spPr>
          <a:xfrm>
            <a:off x="8686800" y="3520440"/>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Shipped</a:t>
            </a:r>
            <a:endParaRPr lang="en-US" sz="1100" dirty="0"/>
          </a:p>
        </p:txBody>
      </p:sp>
      <p:sp>
        <p:nvSpPr>
          <p:cNvPr id="16" name="Text 14"/>
          <p:cNvSpPr txBox="1"/>
          <p:nvPr/>
        </p:nvSpPr>
        <p:spPr>
          <a:xfrm>
            <a:off x="548640" y="3995928"/>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Scam-category classifier (bank / job / BISP / lottery...)</a:t>
            </a:r>
            <a:endParaRPr lang="en-US" sz="1350" dirty="0"/>
          </a:p>
        </p:txBody>
      </p:sp>
      <p:sp>
        <p:nvSpPr>
          <p:cNvPr id="17" name="Shape 15"/>
          <p:cNvSpPr/>
          <p:nvPr/>
        </p:nvSpPr>
        <p:spPr>
          <a:xfrm>
            <a:off x="8686800" y="4050792"/>
            <a:ext cx="2011680" cy="347472"/>
          </a:xfrm>
          <a:prstGeom prst="roundRect">
            <a:avLst>
              <a:gd name="adj" fmla="val 50000"/>
            </a:avLst>
          </a:prstGeom>
          <a:solidFill>
            <a:srgbClr val="E0A937"/>
          </a:solidFill>
          <a:ln/>
        </p:spPr>
      </p:sp>
      <p:sp>
        <p:nvSpPr>
          <p:cNvPr id="18" name="Text 16"/>
          <p:cNvSpPr txBox="1"/>
          <p:nvPr/>
        </p:nvSpPr>
        <p:spPr>
          <a:xfrm>
            <a:off x="8686800" y="4050792"/>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Next</a:t>
            </a:r>
            <a:endParaRPr lang="en-US" sz="1100" dirty="0"/>
          </a:p>
        </p:txBody>
      </p:sp>
      <p:sp>
        <p:nvSpPr>
          <p:cNvPr id="19" name="Text 17"/>
          <p:cNvSpPr txBox="1"/>
          <p:nvPr/>
        </p:nvSpPr>
        <p:spPr>
          <a:xfrm>
            <a:off x="548640" y="4526280"/>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Live SMS / browser-extension interception</a:t>
            </a:r>
            <a:endParaRPr lang="en-US" sz="1350" dirty="0"/>
          </a:p>
        </p:txBody>
      </p:sp>
      <p:sp>
        <p:nvSpPr>
          <p:cNvPr id="20" name="Shape 18"/>
          <p:cNvSpPr/>
          <p:nvPr/>
        </p:nvSpPr>
        <p:spPr>
          <a:xfrm>
            <a:off x="8686800" y="4581144"/>
            <a:ext cx="2011680" cy="347472"/>
          </a:xfrm>
          <a:prstGeom prst="roundRect">
            <a:avLst>
              <a:gd name="adj" fmla="val 50000"/>
            </a:avLst>
          </a:prstGeom>
          <a:solidFill>
            <a:srgbClr val="56698A"/>
          </a:solidFill>
          <a:ln/>
        </p:spPr>
      </p:sp>
      <p:sp>
        <p:nvSpPr>
          <p:cNvPr id="21" name="Text 19"/>
          <p:cNvSpPr txBox="1"/>
          <p:nvPr/>
        </p:nvSpPr>
        <p:spPr>
          <a:xfrm>
            <a:off x="8686800" y="4581144"/>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Planned</a:t>
            </a:r>
            <a:endParaRPr lang="en-US" sz="1100" dirty="0"/>
          </a:p>
        </p:txBody>
      </p:sp>
      <p:sp>
        <p:nvSpPr>
          <p:cNvPr id="22" name="Text 20"/>
          <p:cNvSpPr txBox="1"/>
          <p:nvPr/>
        </p:nvSpPr>
        <p:spPr>
          <a:xfrm>
            <a:off x="548640" y="5056632"/>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Continuous learning from user reports</a:t>
            </a:r>
            <a:endParaRPr lang="en-US" sz="1350" dirty="0"/>
          </a:p>
        </p:txBody>
      </p:sp>
      <p:sp>
        <p:nvSpPr>
          <p:cNvPr id="23" name="Shape 21"/>
          <p:cNvSpPr/>
          <p:nvPr/>
        </p:nvSpPr>
        <p:spPr>
          <a:xfrm>
            <a:off x="8686800" y="5111496"/>
            <a:ext cx="2011680" cy="347472"/>
          </a:xfrm>
          <a:prstGeom prst="roundRect">
            <a:avLst>
              <a:gd name="adj" fmla="val 50000"/>
            </a:avLst>
          </a:prstGeom>
          <a:solidFill>
            <a:srgbClr val="56698A"/>
          </a:solidFill>
          <a:ln/>
        </p:spPr>
      </p:sp>
      <p:sp>
        <p:nvSpPr>
          <p:cNvPr id="24" name="Text 22"/>
          <p:cNvSpPr txBox="1"/>
          <p:nvPr/>
        </p:nvSpPr>
        <p:spPr>
          <a:xfrm>
            <a:off x="8686800" y="5111496"/>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Planned</a:t>
            </a:r>
            <a:endParaRPr lang="en-US" sz="1100" dirty="0"/>
          </a:p>
        </p:txBody>
      </p:sp>
      <p:sp>
        <p:nvSpPr>
          <p:cNvPr id="25" name="Text 23"/>
          <p:cNvSpPr txBox="1"/>
          <p:nvPr/>
        </p:nvSpPr>
        <p:spPr>
          <a:xfrm>
            <a:off x="548640" y="5586984"/>
            <a:ext cx="7863840" cy="457200"/>
          </a:xfrm>
          <a:prstGeom prst="rect">
            <a:avLst/>
          </a:prstGeom>
          <a:noFill/>
          <a:ln/>
        </p:spPr>
        <p:txBody>
          <a:bodyPr wrap="square" lIns="0" tIns="0" rIns="0" bIns="0" rtlCol="0" anchor="ctr"/>
          <a:lstStyle/>
          <a:p>
            <a:pPr marL="0" indent="0">
              <a:buNone/>
            </a:pPr>
            <a:r>
              <a:rPr lang="en-US" sz="1350" dirty="0">
                <a:solidFill>
                  <a:srgbClr val="1A2740"/>
                </a:solidFill>
                <a:latin typeface="Calibri" pitchFamily="34" charset="0"/>
                <a:ea typeface="Calibri" pitchFamily="34" charset="-122"/>
                <a:cs typeface="Calibri" pitchFamily="34" charset="-120"/>
              </a:rPr>
              <a:t>Transformer benchmark (mBERT / XLM-R vs. TF-IDF+SVM)</a:t>
            </a:r>
            <a:endParaRPr lang="en-US" sz="1350" dirty="0"/>
          </a:p>
        </p:txBody>
      </p:sp>
      <p:sp>
        <p:nvSpPr>
          <p:cNvPr id="26" name="Shape 24"/>
          <p:cNvSpPr/>
          <p:nvPr/>
        </p:nvSpPr>
        <p:spPr>
          <a:xfrm>
            <a:off x="8686800" y="5641848"/>
            <a:ext cx="2011680" cy="347472"/>
          </a:xfrm>
          <a:prstGeom prst="roundRect">
            <a:avLst>
              <a:gd name="adj" fmla="val 50000"/>
            </a:avLst>
          </a:prstGeom>
          <a:solidFill>
            <a:srgbClr val="56698A"/>
          </a:solidFill>
          <a:ln/>
        </p:spPr>
      </p:sp>
      <p:sp>
        <p:nvSpPr>
          <p:cNvPr id="27" name="Text 25"/>
          <p:cNvSpPr txBox="1"/>
          <p:nvPr/>
        </p:nvSpPr>
        <p:spPr>
          <a:xfrm>
            <a:off x="8686800" y="5641848"/>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Planned</a:t>
            </a:r>
            <a:endParaRPr lang="en-US" sz="1100" dirty="0"/>
          </a:p>
        </p:txBody>
      </p:sp>
      <p:sp>
        <p:nvSpPr>
          <p:cNvPr id="28" name="Text 26"/>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14</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E9F0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FEASIBILITY, AND WHAT WE HAVE ACTUALLY BUILT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800" b="1" dirty="0">
                <a:solidFill>
                  <a:srgbClr val="12294E"/>
                </a:solidFill>
                <a:latin typeface="Cambria" pitchFamily="34" charset="0"/>
                <a:ea typeface="Cambria" pitchFamily="34" charset="-122"/>
                <a:cs typeface="Cambria" pitchFamily="34" charset="-120"/>
              </a:rPr>
              <a:t>This Is Shipped, Not Sketched</a:t>
            </a:r>
            <a:endParaRPr lang="en-US" sz="2800" dirty="0"/>
          </a:p>
        </p:txBody>
      </p:sp>
      <p:sp>
        <p:nvSpPr>
          <p:cNvPr id="4" name="Shape 2"/>
          <p:cNvSpPr/>
          <p:nvPr/>
        </p:nvSpPr>
        <p:spPr>
          <a:xfrm>
            <a:off x="548640" y="1920240"/>
            <a:ext cx="3505200" cy="2880360"/>
          </a:xfrm>
          <a:prstGeom prst="roundRect">
            <a:avLst>
              <a:gd name="adj" fmla="val 2540"/>
            </a:avLst>
          </a:prstGeom>
          <a:solidFill>
            <a:srgbClr val="FFFFFF"/>
          </a:solidFill>
          <a:ln/>
          <a:effectLst>
            <a:outerShdw blurRad="101600" dist="38100" dir="5400000" algn="bl" rotWithShape="0">
              <a:srgbClr val="1A2740">
                <a:alpha val="18000"/>
              </a:srgbClr>
            </a:outerShdw>
          </a:effectLst>
        </p:spPr>
      </p:sp>
      <p:sp>
        <p:nvSpPr>
          <p:cNvPr id="5" name="Text 3"/>
          <p:cNvSpPr txBox="1"/>
          <p:nvPr/>
        </p:nvSpPr>
        <p:spPr>
          <a:xfrm>
            <a:off x="804672" y="2148840"/>
            <a:ext cx="2993136" cy="548640"/>
          </a:xfrm>
          <a:prstGeom prst="rect">
            <a:avLst/>
          </a:prstGeom>
          <a:noFill/>
          <a:ln/>
        </p:spPr>
        <p:txBody>
          <a:bodyPr wrap="square" lIns="0" tIns="0" rIns="0" bIns="0" rtlCol="0" anchor="ctr"/>
          <a:lstStyle/>
          <a:p>
            <a:pPr marL="0" indent="0">
              <a:buNone/>
            </a:pPr>
            <a:r>
              <a:rPr lang="en-US" sz="1500" b="1" dirty="0">
                <a:solidFill>
                  <a:srgbClr val="12294E"/>
                </a:solidFill>
                <a:latin typeface="Calibri" pitchFamily="34" charset="0"/>
                <a:ea typeface="Calibri" pitchFamily="34" charset="-122"/>
                <a:cs typeface="Calibri" pitchFamily="34" charset="-120"/>
              </a:rPr>
              <a:t>Full-Stack, Deployed</a:t>
            </a:r>
            <a:endParaRPr lang="en-US" sz="1500" dirty="0"/>
          </a:p>
        </p:txBody>
      </p:sp>
      <p:sp>
        <p:nvSpPr>
          <p:cNvPr id="6" name="Text 4"/>
          <p:cNvSpPr txBox="1"/>
          <p:nvPr/>
        </p:nvSpPr>
        <p:spPr>
          <a:xfrm>
            <a:off x="804672" y="2743200"/>
            <a:ext cx="2993136" cy="192024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Next.js 16 frontend on Vercel · FastAPI backend on Render · auto-deploys on every git push · public REST API (/api/health, /api/analyze-text, /api/analyze-audio)</a:t>
            </a:r>
            <a:endParaRPr lang="en-US" sz="1200" dirty="0"/>
          </a:p>
        </p:txBody>
      </p:sp>
      <p:sp>
        <p:nvSpPr>
          <p:cNvPr id="7" name="Shape 5"/>
          <p:cNvSpPr/>
          <p:nvPr/>
        </p:nvSpPr>
        <p:spPr>
          <a:xfrm>
            <a:off x="4328160" y="1920240"/>
            <a:ext cx="3505200" cy="2880360"/>
          </a:xfrm>
          <a:prstGeom prst="roundRect">
            <a:avLst>
              <a:gd name="adj" fmla="val 2540"/>
            </a:avLst>
          </a:prstGeom>
          <a:solidFill>
            <a:srgbClr val="FFFFFF"/>
          </a:solidFill>
          <a:ln/>
          <a:effectLst>
            <a:outerShdw blurRad="101600" dist="38100" dir="5400000" algn="bl" rotWithShape="0">
              <a:srgbClr val="1A2740">
                <a:alpha val="18000"/>
              </a:srgbClr>
            </a:outerShdw>
          </a:effectLst>
        </p:spPr>
      </p:sp>
      <p:sp>
        <p:nvSpPr>
          <p:cNvPr id="8" name="Text 6"/>
          <p:cNvSpPr txBox="1"/>
          <p:nvPr/>
        </p:nvSpPr>
        <p:spPr>
          <a:xfrm>
            <a:off x="4584192" y="2148840"/>
            <a:ext cx="2993136" cy="548640"/>
          </a:xfrm>
          <a:prstGeom prst="rect">
            <a:avLst/>
          </a:prstGeom>
          <a:noFill/>
          <a:ln/>
        </p:spPr>
        <p:txBody>
          <a:bodyPr wrap="square" lIns="0" tIns="0" rIns="0" bIns="0" rtlCol="0" anchor="ctr"/>
          <a:lstStyle/>
          <a:p>
            <a:pPr marL="0" indent="0">
              <a:buNone/>
            </a:pPr>
            <a:r>
              <a:rPr lang="en-US" sz="1500" b="1" dirty="0">
                <a:solidFill>
                  <a:srgbClr val="12294E"/>
                </a:solidFill>
                <a:latin typeface="Calibri" pitchFamily="34" charset="0"/>
                <a:ea typeface="Calibri" pitchFamily="34" charset="-122"/>
                <a:cs typeface="Calibri" pitchFamily="34" charset="-120"/>
              </a:rPr>
              <a:t>Production Behaviors</a:t>
            </a:r>
            <a:endParaRPr lang="en-US" sz="1500" dirty="0"/>
          </a:p>
        </p:txBody>
      </p:sp>
      <p:sp>
        <p:nvSpPr>
          <p:cNvPr id="9" name="Text 7"/>
          <p:cNvSpPr txBox="1"/>
          <p:nvPr/>
        </p:nvSpPr>
        <p:spPr>
          <a:xfrm>
            <a:off x="4584192" y="2743200"/>
            <a:ext cx="2993136" cy="192024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Honest error states </a:t>
            </a:r>
            <a:r>
              <a:rPr lang="en-US" sz="1200" dirty="0" smtClean="0">
                <a:solidFill>
                  <a:srgbClr val="1A2740"/>
                </a:solidFill>
                <a:latin typeface="Calibri" pitchFamily="34" charset="0"/>
                <a:ea typeface="Calibri" pitchFamily="34" charset="-122"/>
                <a:cs typeface="Calibri" pitchFamily="34" charset="-120"/>
              </a:rPr>
              <a:t>, </a:t>
            </a:r>
            <a:r>
              <a:rPr lang="en-US" sz="1200" dirty="0">
                <a:solidFill>
                  <a:srgbClr val="1A2740"/>
                </a:solidFill>
                <a:latin typeface="Calibri" pitchFamily="34" charset="0"/>
                <a:ea typeface="Calibri" pitchFamily="34" charset="-122"/>
                <a:cs typeface="Calibri" pitchFamily="34" charset="-120"/>
              </a:rPr>
              <a:t>never fakes a verdict if the backend is down · server-side 5-minute call-length limit · configurable audio on/off per deployment tier</a:t>
            </a:r>
            <a:endParaRPr lang="en-US" sz="1200" dirty="0"/>
          </a:p>
        </p:txBody>
      </p:sp>
      <p:sp>
        <p:nvSpPr>
          <p:cNvPr id="10" name="Shape 8"/>
          <p:cNvSpPr/>
          <p:nvPr/>
        </p:nvSpPr>
        <p:spPr>
          <a:xfrm>
            <a:off x="8107680" y="1920240"/>
            <a:ext cx="3505200" cy="2880360"/>
          </a:xfrm>
          <a:prstGeom prst="roundRect">
            <a:avLst>
              <a:gd name="adj" fmla="val 2540"/>
            </a:avLst>
          </a:prstGeom>
          <a:solidFill>
            <a:srgbClr val="FFFFFF"/>
          </a:solidFill>
          <a:ln/>
          <a:effectLst>
            <a:outerShdw blurRad="101600" dist="38100" dir="5400000" algn="bl" rotWithShape="0">
              <a:srgbClr val="1A2740">
                <a:alpha val="18000"/>
              </a:srgbClr>
            </a:outerShdw>
          </a:effectLst>
        </p:spPr>
      </p:sp>
      <p:sp>
        <p:nvSpPr>
          <p:cNvPr id="11" name="Text 9"/>
          <p:cNvSpPr txBox="1"/>
          <p:nvPr/>
        </p:nvSpPr>
        <p:spPr>
          <a:xfrm>
            <a:off x="8363712" y="2148840"/>
            <a:ext cx="2993136" cy="548640"/>
          </a:xfrm>
          <a:prstGeom prst="rect">
            <a:avLst/>
          </a:prstGeom>
          <a:noFill/>
          <a:ln/>
        </p:spPr>
        <p:txBody>
          <a:bodyPr wrap="square" lIns="0" tIns="0" rIns="0" bIns="0" rtlCol="0" anchor="ctr"/>
          <a:lstStyle/>
          <a:p>
            <a:pPr marL="0" indent="0">
              <a:buNone/>
            </a:pPr>
            <a:r>
              <a:rPr lang="en-US" sz="1500" b="1" dirty="0">
                <a:solidFill>
                  <a:srgbClr val="12294E"/>
                </a:solidFill>
                <a:latin typeface="Calibri" pitchFamily="34" charset="0"/>
                <a:ea typeface="Calibri" pitchFamily="34" charset="-122"/>
                <a:cs typeface="Calibri" pitchFamily="34" charset="-120"/>
              </a:rPr>
              <a:t>Zero Mock Data</a:t>
            </a:r>
            <a:endParaRPr lang="en-US" sz="1500" dirty="0"/>
          </a:p>
        </p:txBody>
      </p:sp>
      <p:sp>
        <p:nvSpPr>
          <p:cNvPr id="12" name="Text 10"/>
          <p:cNvSpPr txBox="1"/>
          <p:nvPr/>
        </p:nvSpPr>
        <p:spPr>
          <a:xfrm>
            <a:off x="8363712" y="2743200"/>
            <a:ext cx="2993136" cy="1920240"/>
          </a:xfrm>
          <a:prstGeom prst="rect">
            <a:avLst/>
          </a:prstGeom>
          <a:noFill/>
          <a:ln/>
        </p:spPr>
        <p:txBody>
          <a:bodyPr wrap="square" lIns="0" tIns="0" rIns="0" bIns="0" rtlCol="0" anchor="t"/>
          <a:lstStyle/>
          <a:p>
            <a:pPr marL="0" indent="0">
              <a:buNone/>
            </a:pPr>
            <a:r>
              <a:rPr lang="en-US" sz="1200" dirty="0">
                <a:solidFill>
                  <a:srgbClr val="1A2740"/>
                </a:solidFill>
                <a:latin typeface="Calibri" pitchFamily="34" charset="0"/>
                <a:ea typeface="Calibri" pitchFamily="34" charset="-122"/>
                <a:cs typeface="Calibri" pitchFamily="34" charset="-120"/>
              </a:rPr>
              <a:t>Every verdict on screen is produced by the real, trained V4_adversarial_505 model in real time </a:t>
            </a:r>
            <a:r>
              <a:rPr lang="en-US" sz="1200" dirty="0" smtClean="0">
                <a:solidFill>
                  <a:srgbClr val="1A2740"/>
                </a:solidFill>
                <a:latin typeface="Calibri" pitchFamily="34" charset="0"/>
                <a:ea typeface="Calibri" pitchFamily="34" charset="-122"/>
                <a:cs typeface="Calibri" pitchFamily="34" charset="-120"/>
              </a:rPr>
              <a:t>, </a:t>
            </a:r>
            <a:r>
              <a:rPr lang="en-US" sz="1200" dirty="0">
                <a:solidFill>
                  <a:srgbClr val="1A2740"/>
                </a:solidFill>
                <a:latin typeface="Calibri" pitchFamily="34" charset="0"/>
                <a:ea typeface="Calibri" pitchFamily="34" charset="-122"/>
                <a:cs typeface="Calibri" pitchFamily="34" charset="-120"/>
              </a:rPr>
              <a:t>nothing hardcoded, nothing scripted for the demo</a:t>
            </a:r>
            <a:endParaRPr lang="en-US" sz="1200" dirty="0"/>
          </a:p>
        </p:txBody>
      </p:sp>
      <p:sp>
        <p:nvSpPr>
          <p:cNvPr id="13" name="Shape 11"/>
          <p:cNvSpPr/>
          <p:nvPr/>
        </p:nvSpPr>
        <p:spPr>
          <a:xfrm>
            <a:off x="548640" y="5074920"/>
            <a:ext cx="11064240" cy="1188720"/>
          </a:xfrm>
          <a:prstGeom prst="roundRect">
            <a:avLst>
              <a:gd name="adj" fmla="val 6154"/>
            </a:avLst>
          </a:prstGeom>
          <a:solidFill>
            <a:srgbClr val="12294E"/>
          </a:solidFill>
          <a:ln/>
        </p:spPr>
      </p:sp>
      <p:sp>
        <p:nvSpPr>
          <p:cNvPr id="14" name="Text 12"/>
          <p:cNvSpPr txBox="1"/>
          <p:nvPr/>
        </p:nvSpPr>
        <p:spPr>
          <a:xfrm>
            <a:off x="822960" y="5212080"/>
            <a:ext cx="2377440" cy="914400"/>
          </a:xfrm>
          <a:prstGeom prst="rect">
            <a:avLst/>
          </a:prstGeom>
          <a:noFill/>
          <a:ln/>
        </p:spPr>
        <p:txBody>
          <a:bodyPr wrap="square" lIns="0" tIns="0" rIns="0" bIns="0" rtlCol="0" anchor="t"/>
          <a:lstStyle/>
          <a:p>
            <a:pPr marL="0" indent="0">
              <a:buNone/>
            </a:pPr>
            <a:r>
              <a:rPr lang="en-US" sz="1250" b="1" dirty="0">
                <a:solidFill>
                  <a:srgbClr val="E0A937"/>
                </a:solidFill>
                <a:latin typeface="Calibri" pitchFamily="34" charset="0"/>
                <a:ea typeface="Calibri" pitchFamily="34" charset="-122"/>
                <a:cs typeface="Calibri" pitchFamily="34" charset="-120"/>
              </a:rPr>
              <a:t>Full stack, named:</a:t>
            </a:r>
            <a:endParaRPr lang="en-US" sz="1250" dirty="0"/>
          </a:p>
        </p:txBody>
      </p:sp>
      <p:sp>
        <p:nvSpPr>
          <p:cNvPr id="15" name="Text 13"/>
          <p:cNvSpPr txBox="1"/>
          <p:nvPr/>
        </p:nvSpPr>
        <p:spPr>
          <a:xfrm>
            <a:off x="3108960" y="5212080"/>
            <a:ext cx="8229600" cy="91440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Next.js 16 · React 19 · TypeScript 5 · Tailwind CSS 4 · Three.js (interactive 3D shield UI)  </a:t>
            </a:r>
            <a:r>
              <a:rPr lang="en-US" sz="1250" dirty="0" smtClean="0">
                <a:solidFill>
                  <a:srgbClr val="FFFFFF"/>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FastAPI · scikit-learn · faster-whisper (Whisper medium, INT8, CPU) · pydub</a:t>
            </a:r>
            <a:endParaRPr lang="en-US" sz="1250" dirty="0"/>
          </a:p>
        </p:txBody>
      </p:sp>
      <p:sp>
        <p:nvSpPr>
          <p:cNvPr id="16" name="Text 14"/>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12</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rtlCol="0" anchor="ctr"/>
          <a:lstStyle/>
          <a:p>
            <a:pPr marL="0" indent="0" algn="l">
              <a:buNone/>
            </a:pPr>
            <a:r>
              <a:rPr lang="en-US" sz="1300" b="1" kern="0" spc="200" dirty="0">
                <a:solidFill>
                  <a:srgbClr val="12294E"/>
                </a:solidFill>
                <a:latin typeface="Calibri" pitchFamily="34" charset="0"/>
                <a:ea typeface="Calibri" pitchFamily="34" charset="-122"/>
                <a:cs typeface="Calibri" pitchFamily="34" charset="-120"/>
              </a:rPr>
              <a:t>FEASIBILITY, AND WHAT WE HAVE ACTUALLY BUILT</a:t>
            </a:r>
            <a:endParaRPr lang="en-US" sz="1300" dirty="0"/>
          </a:p>
        </p:txBody>
      </p:sp>
      <p:sp>
        <p:nvSpPr>
          <p:cNvPr id="3" name="Text 1"/>
          <p:cNvSpPr txBox="1"/>
          <p:nvPr/>
        </p:nvSpPr>
        <p:spPr>
          <a:xfrm>
            <a:off x="548640" y="960120"/>
            <a:ext cx="11064240" cy="822960"/>
          </a:xfrm>
          <a:prstGeom prst="rect">
            <a:avLst/>
          </a:prstGeom>
          <a:noFill/>
          <a:ln/>
        </p:spPr>
        <p:txBody>
          <a:bodyPr wrap="square" lIns="0" tIns="0" rIns="0" bIns="0" rtlCol="0" anchor="ctr"/>
          <a:lstStyle/>
          <a:p>
            <a:pPr marL="0" indent="0" algn="l">
              <a:buNone/>
            </a:pPr>
            <a:r>
              <a:rPr lang="en-US" sz="2700" b="1" dirty="0">
                <a:solidFill>
                  <a:srgbClr val="12294E"/>
                </a:solidFill>
                <a:latin typeface="Cambria" pitchFamily="34" charset="0"/>
                <a:ea typeface="Cambria" pitchFamily="34" charset="-122"/>
                <a:cs typeface="Cambria" pitchFamily="34" charset="-120"/>
              </a:rPr>
              <a:t>Consistent Across Languages. Not Just Memorizing.</a:t>
            </a:r>
            <a:endParaRPr lang="en-US" sz="2700" dirty="0"/>
          </a:p>
        </p:txBody>
      </p:sp>
      <p:graphicFrame>
        <p:nvGraphicFramePr>
          <p:cNvPr id="4" name="Chart 0"/>
          <p:cNvGraphicFramePr/>
          <p:nvPr/>
        </p:nvGraphicFramePr>
        <p:xfrm>
          <a:off x="457200" y="1828800"/>
          <a:ext cx="63093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95160" y="1828800"/>
            <a:ext cx="4663440" cy="3383280"/>
          </a:xfrm>
          <a:prstGeom prst="roundRect">
            <a:avLst>
              <a:gd name="adj" fmla="val 2162"/>
            </a:avLst>
          </a:prstGeom>
          <a:solidFill>
            <a:srgbClr val="E9F0FA"/>
          </a:solidFill>
          <a:ln/>
          <a:effectLst>
            <a:outerShdw blurRad="101600" dist="38100" dir="5400000" algn="bl" rotWithShape="0">
              <a:srgbClr val="1A2740">
                <a:alpha val="18000"/>
              </a:srgbClr>
            </a:outerShdw>
          </a:effectLst>
        </p:spPr>
      </p:sp>
      <p:sp>
        <p:nvSpPr>
          <p:cNvPr id="6" name="Text 3"/>
          <p:cNvSpPr txBox="1"/>
          <p:nvPr/>
        </p:nvSpPr>
        <p:spPr>
          <a:xfrm>
            <a:off x="7269480" y="2011680"/>
            <a:ext cx="4114800" cy="365760"/>
          </a:xfrm>
          <a:prstGeom prst="rect">
            <a:avLst/>
          </a:prstGeom>
          <a:noFill/>
          <a:ln/>
        </p:spPr>
        <p:txBody>
          <a:bodyPr wrap="square" lIns="0" tIns="0" rIns="0" bIns="0" rtlCol="0" anchor="ctr"/>
          <a:lstStyle/>
          <a:p>
            <a:pPr marL="0" indent="0">
              <a:buNone/>
            </a:pPr>
            <a:r>
              <a:rPr lang="en-US" sz="1500" b="1" dirty="0">
                <a:solidFill>
                  <a:srgbClr val="12294E"/>
                </a:solidFill>
                <a:latin typeface="Calibri" pitchFamily="34" charset="0"/>
                <a:ea typeface="Calibri" pitchFamily="34" charset="-122"/>
                <a:cs typeface="Calibri" pitchFamily="34" charset="-120"/>
              </a:rPr>
              <a:t>Overfitting Check</a:t>
            </a:r>
            <a:endParaRPr lang="en-US" sz="1500" dirty="0"/>
          </a:p>
        </p:txBody>
      </p:sp>
      <p:sp>
        <p:nvSpPr>
          <p:cNvPr id="7" name="Text 4"/>
          <p:cNvSpPr txBox="1"/>
          <p:nvPr/>
        </p:nvSpPr>
        <p:spPr>
          <a:xfrm>
            <a:off x="7269480" y="2560320"/>
            <a:ext cx="1874520" cy="731520"/>
          </a:xfrm>
          <a:prstGeom prst="rect">
            <a:avLst/>
          </a:prstGeom>
          <a:noFill/>
          <a:ln/>
        </p:spPr>
        <p:txBody>
          <a:bodyPr wrap="square" lIns="0" tIns="0" rIns="0" bIns="0" rtlCol="0" anchor="ctr"/>
          <a:lstStyle/>
          <a:p>
            <a:pPr marL="0" indent="0" algn="ctr">
              <a:buNone/>
            </a:pPr>
            <a:r>
              <a:rPr lang="en-US" sz="3400" b="1" dirty="0">
                <a:solidFill>
                  <a:srgbClr val="12294E"/>
                </a:solidFill>
                <a:latin typeface="Cambria" pitchFamily="34" charset="0"/>
                <a:ea typeface="Cambria" pitchFamily="34" charset="-122"/>
                <a:cs typeface="Cambria" pitchFamily="34" charset="-120"/>
              </a:rPr>
              <a:t>99.15%</a:t>
            </a:r>
            <a:endParaRPr lang="en-US" sz="3400" dirty="0"/>
          </a:p>
        </p:txBody>
      </p:sp>
      <p:sp>
        <p:nvSpPr>
          <p:cNvPr id="8" name="Text 5"/>
          <p:cNvSpPr txBox="1"/>
          <p:nvPr/>
        </p:nvSpPr>
        <p:spPr>
          <a:xfrm>
            <a:off x="7269480" y="3273552"/>
            <a:ext cx="1874520" cy="502920"/>
          </a:xfrm>
          <a:prstGeom prst="rect">
            <a:avLst/>
          </a:prstGeom>
          <a:noFill/>
          <a:ln/>
        </p:spPr>
        <p:txBody>
          <a:bodyPr wrap="square" lIns="0" tIns="0" rIns="0" bIns="0" rtlCol="0" anchor="t"/>
          <a:lstStyle/>
          <a:p>
            <a:pPr marL="0" indent="0" algn="ctr">
              <a:buNone/>
            </a:pPr>
            <a:r>
              <a:rPr lang="en-US" sz="1050" dirty="0">
                <a:solidFill>
                  <a:srgbClr val="56698A"/>
                </a:solidFill>
                <a:latin typeface="Calibri" pitchFamily="34" charset="0"/>
                <a:ea typeface="Calibri" pitchFamily="34" charset="-122"/>
                <a:cs typeface="Calibri" pitchFamily="34" charset="-120"/>
              </a:rPr>
              <a:t>Cross-validation accuracy</a:t>
            </a:r>
            <a:endParaRPr lang="en-US" sz="1050" dirty="0"/>
          </a:p>
        </p:txBody>
      </p:sp>
      <p:sp>
        <p:nvSpPr>
          <p:cNvPr id="9" name="Shape 6"/>
          <p:cNvSpPr/>
          <p:nvPr/>
        </p:nvSpPr>
        <p:spPr>
          <a:xfrm>
            <a:off x="9281160" y="2606040"/>
            <a:ext cx="0" cy="868680"/>
          </a:xfrm>
          <a:prstGeom prst="line">
            <a:avLst/>
          </a:prstGeom>
          <a:noFill/>
          <a:ln w="12700">
            <a:solidFill>
              <a:srgbClr val="CADCFC"/>
            </a:solidFill>
            <a:prstDash val="solid"/>
          </a:ln>
        </p:spPr>
      </p:sp>
      <p:sp>
        <p:nvSpPr>
          <p:cNvPr id="10" name="Text 7"/>
          <p:cNvSpPr txBox="1"/>
          <p:nvPr/>
        </p:nvSpPr>
        <p:spPr>
          <a:xfrm>
            <a:off x="9464040" y="2560320"/>
            <a:ext cx="1874520" cy="731520"/>
          </a:xfrm>
          <a:prstGeom prst="rect">
            <a:avLst/>
          </a:prstGeom>
          <a:noFill/>
          <a:ln/>
        </p:spPr>
        <p:txBody>
          <a:bodyPr wrap="square" lIns="0" tIns="0" rIns="0" bIns="0" rtlCol="0" anchor="ctr"/>
          <a:lstStyle/>
          <a:p>
            <a:pPr marL="0" indent="0" algn="ctr">
              <a:buNone/>
            </a:pPr>
            <a:r>
              <a:rPr lang="en-US" sz="3400" b="1" dirty="0">
                <a:solidFill>
                  <a:srgbClr val="12294E"/>
                </a:solidFill>
                <a:latin typeface="Cambria" pitchFamily="34" charset="0"/>
                <a:ea typeface="Cambria" pitchFamily="34" charset="-122"/>
                <a:cs typeface="Cambria" pitchFamily="34" charset="-120"/>
              </a:rPr>
              <a:t>97.33%</a:t>
            </a:r>
            <a:endParaRPr lang="en-US" sz="3400" dirty="0"/>
          </a:p>
        </p:txBody>
      </p:sp>
      <p:sp>
        <p:nvSpPr>
          <p:cNvPr id="11" name="Text 8"/>
          <p:cNvSpPr txBox="1"/>
          <p:nvPr/>
        </p:nvSpPr>
        <p:spPr>
          <a:xfrm>
            <a:off x="9464040" y="3273552"/>
            <a:ext cx="1874520" cy="502920"/>
          </a:xfrm>
          <a:prstGeom prst="rect">
            <a:avLst/>
          </a:prstGeom>
          <a:noFill/>
          <a:ln/>
        </p:spPr>
        <p:txBody>
          <a:bodyPr wrap="square" lIns="0" tIns="0" rIns="0" bIns="0" rtlCol="0" anchor="t"/>
          <a:lstStyle/>
          <a:p>
            <a:pPr marL="0" indent="0" algn="ctr">
              <a:buNone/>
            </a:pPr>
            <a:r>
              <a:rPr lang="en-US" sz="1050" dirty="0">
                <a:solidFill>
                  <a:srgbClr val="56698A"/>
                </a:solidFill>
                <a:latin typeface="Calibri" pitchFamily="34" charset="0"/>
                <a:ea typeface="Calibri" pitchFamily="34" charset="-122"/>
                <a:cs typeface="Calibri" pitchFamily="34" charset="-120"/>
              </a:rPr>
              <a:t>Held-out test accuracy</a:t>
            </a:r>
            <a:endParaRPr lang="en-US" sz="1050" dirty="0"/>
          </a:p>
        </p:txBody>
      </p:sp>
      <p:sp>
        <p:nvSpPr>
          <p:cNvPr id="12" name="Shape 9"/>
          <p:cNvSpPr/>
          <p:nvPr/>
        </p:nvSpPr>
        <p:spPr>
          <a:xfrm>
            <a:off x="7269480" y="3977640"/>
            <a:ext cx="4114800" cy="0"/>
          </a:xfrm>
          <a:prstGeom prst="line">
            <a:avLst/>
          </a:prstGeom>
          <a:noFill/>
          <a:ln w="12700">
            <a:solidFill>
              <a:srgbClr val="CADCFC"/>
            </a:solidFill>
            <a:prstDash val="solid"/>
          </a:ln>
        </p:spPr>
      </p:sp>
      <p:sp>
        <p:nvSpPr>
          <p:cNvPr id="13" name="Text 10"/>
          <p:cNvSpPr txBox="1"/>
          <p:nvPr/>
        </p:nvSpPr>
        <p:spPr>
          <a:xfrm>
            <a:off x="7269480" y="4160520"/>
            <a:ext cx="4114800" cy="914400"/>
          </a:xfrm>
          <a:prstGeom prst="rect">
            <a:avLst/>
          </a:prstGeom>
          <a:noFill/>
          <a:ln/>
        </p:spPr>
        <p:txBody>
          <a:bodyPr wrap="square" lIns="0" tIns="0" rIns="0" bIns="0" rtlCol="0" anchor="t"/>
          <a:lstStyle/>
          <a:p>
            <a:pPr marL="0" indent="0">
              <a:buNone/>
            </a:pPr>
            <a:r>
              <a:rPr lang="en-US" sz="2000" b="1" dirty="0">
                <a:solidFill>
                  <a:srgbClr val="2E9E5B"/>
                </a:solidFill>
              </a:rPr>
              <a:t>&lt; 2% gap </a:t>
            </a:r>
            <a:r>
              <a:rPr lang="en-US" sz="1250" dirty="0">
                <a:solidFill>
                  <a:srgbClr val="1A2740"/>
                </a:solidFill>
              </a:rPr>
              <a:t>— considered a healthy, non-overfit result. The model is generalizing, not memorizing.</a:t>
            </a:r>
            <a:endParaRPr lang="en-US" sz="2000" dirty="0"/>
          </a:p>
        </p:txBody>
      </p:sp>
      <p:sp>
        <p:nvSpPr>
          <p:cNvPr id="14" name="Shape 11"/>
          <p:cNvSpPr/>
          <p:nvPr/>
        </p:nvSpPr>
        <p:spPr>
          <a:xfrm>
            <a:off x="457200" y="5440680"/>
            <a:ext cx="11247120" cy="868680"/>
          </a:xfrm>
          <a:prstGeom prst="roundRect">
            <a:avLst>
              <a:gd name="adj" fmla="val 8421"/>
            </a:avLst>
          </a:prstGeom>
          <a:solidFill>
            <a:srgbClr val="12294E"/>
          </a:solidFill>
          <a:ln/>
        </p:spPr>
      </p:sp>
      <p:sp>
        <p:nvSpPr>
          <p:cNvPr id="15" name="Text 12"/>
          <p:cNvSpPr txBox="1"/>
          <p:nvPr/>
        </p:nvSpPr>
        <p:spPr>
          <a:xfrm>
            <a:off x="777240" y="5440680"/>
            <a:ext cx="10607040" cy="8686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Training data: 1,637 messages (879 scam / 758 safe) across 10+ Pakistan-specific scam categories </a:t>
            </a:r>
            <a:r>
              <a:rPr lang="en-US" sz="1250" dirty="0" smtClean="0">
                <a:solidFill>
                  <a:srgbClr val="FFFFFF"/>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job scams, lottery scams, bank phishing, OTP extraction, fake SIM-block threats, and fake BISP / Ehsaas / NADRA / FBR notices.</a:t>
            </a:r>
            <a:endParaRPr lang="en-US" sz="1250" dirty="0"/>
          </a:p>
        </p:txBody>
      </p:sp>
      <p:sp>
        <p:nvSpPr>
          <p:cNvPr id="16" name="Text 13"/>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6698A"/>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A1B36"/>
        </a:solidFill>
        <a:effectLst/>
      </p:bgPr>
    </p:bg>
    <p:spTree>
      <p:nvGrpSpPr>
        <p:cNvPr id="1" name=""/>
        <p:cNvGrpSpPr/>
        <p:nvPr/>
      </p:nvGrpSpPr>
      <p:grpSpPr>
        <a:xfrm>
          <a:off x="0" y="0"/>
          <a:ext cx="0" cy="0"/>
          <a:chOff x="0" y="0"/>
          <a:chExt cx="0" cy="0"/>
        </a:xfrm>
      </p:grpSpPr>
      <p:sp>
        <p:nvSpPr>
          <p:cNvPr id="2" name="Shape 0"/>
          <p:cNvSpPr/>
          <p:nvPr/>
        </p:nvSpPr>
        <p:spPr>
          <a:xfrm>
            <a:off x="9464040" y="1005840"/>
            <a:ext cx="2194560" cy="2194560"/>
          </a:xfrm>
          <a:prstGeom prst="line">
            <a:avLst/>
          </a:prstGeom>
          <a:solidFill>
            <a:srgbClr val="12294E"/>
          </a:solidFill>
          <a:ln w="19050">
            <a:solidFill>
              <a:srgbClr val="E0A937"/>
            </a:solidFill>
            <a:prstDash val="solid"/>
          </a:ln>
        </p:spPr>
      </p:sp>
      <p:sp>
        <p:nvSpPr>
          <p:cNvPr id="3" name="Text 1"/>
          <p:cNvSpPr txBox="1"/>
          <p:nvPr/>
        </p:nvSpPr>
        <p:spPr>
          <a:xfrm>
            <a:off x="9464040" y="1005840"/>
            <a:ext cx="2194560" cy="2194560"/>
          </a:xfrm>
          <a:prstGeom prst="rect">
            <a:avLst/>
          </a:prstGeom>
          <a:noFill/>
          <a:ln/>
        </p:spPr>
        <p:txBody>
          <a:bodyPr wrap="square" lIns="0" tIns="0" rIns="0" bIns="0" rtlCol="0" anchor="ctr"/>
          <a:lstStyle/>
          <a:p>
            <a:pPr marL="0" indent="0" algn="ctr">
              <a:buNone/>
            </a:pPr>
            <a:r>
              <a:rPr lang="en-US" sz="6000" b="1" dirty="0">
                <a:solidFill>
                  <a:srgbClr val="E0A937"/>
                </a:solidFill>
                <a:latin typeface="Cambria" pitchFamily="34" charset="0"/>
                <a:ea typeface="Cambria" pitchFamily="34" charset="-122"/>
                <a:cs typeface="Cambria" pitchFamily="34" charset="-120"/>
              </a:rPr>
              <a:t>M</a:t>
            </a:r>
            <a:endParaRPr lang="en-US" sz="6000" dirty="0"/>
          </a:p>
        </p:txBody>
      </p:sp>
      <p:sp>
        <p:nvSpPr>
          <p:cNvPr id="4" name="Text 2"/>
          <p:cNvSpPr txBox="1"/>
          <p:nvPr/>
        </p:nvSpPr>
        <p:spPr>
          <a:xfrm>
            <a:off x="548640" y="2468880"/>
            <a:ext cx="82296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txBox="1"/>
          <p:nvPr/>
        </p:nvSpPr>
        <p:spPr>
          <a:xfrm>
            <a:off x="548640" y="3429000"/>
            <a:ext cx="8503920" cy="54864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Muhafiz AI </a:t>
            </a:r>
            <a:r>
              <a:rPr lang="en-US" sz="1700" i="1" dirty="0">
                <a:solidFill>
                  <a:srgbClr val="CADCFC"/>
                </a:solidFill>
                <a:latin typeface="Calibri" pitchFamily="34" charset="0"/>
                <a:ea typeface="Calibri" pitchFamily="34" charset="-122"/>
                <a:cs typeface="Calibri" pitchFamily="34" charset="-120"/>
              </a:rPr>
              <a:t>:</a:t>
            </a:r>
            <a:r>
              <a:rPr lang="en-US" sz="1700" i="1" dirty="0" smtClean="0">
                <a:solidFill>
                  <a:srgbClr val="CADCFC"/>
                </a:solidFill>
                <a:latin typeface="Calibri" pitchFamily="34" charset="0"/>
                <a:ea typeface="Calibri" pitchFamily="34" charset="-122"/>
                <a:cs typeface="Calibri" pitchFamily="34" charset="-120"/>
              </a:rPr>
              <a:t> </a:t>
            </a:r>
            <a:r>
              <a:rPr lang="en-US" sz="1700" i="1" dirty="0">
                <a:solidFill>
                  <a:srgbClr val="CADCFC"/>
                </a:solidFill>
                <a:latin typeface="Calibri" pitchFamily="34" charset="0"/>
                <a:ea typeface="Calibri" pitchFamily="34" charset="-122"/>
                <a:cs typeface="Calibri" pitchFamily="34" charset="-120"/>
              </a:rPr>
              <a:t>one guardian, every Pakistani language.</a:t>
            </a:r>
            <a:endParaRPr lang="en-US" sz="1700" dirty="0"/>
          </a:p>
        </p:txBody>
      </p:sp>
      <p:sp>
        <p:nvSpPr>
          <p:cNvPr id="6" name="Shape 4"/>
          <p:cNvSpPr/>
          <p:nvPr/>
        </p:nvSpPr>
        <p:spPr>
          <a:xfrm>
            <a:off x="548640" y="4206240"/>
            <a:ext cx="2926080" cy="0"/>
          </a:xfrm>
          <a:prstGeom prst="line">
            <a:avLst/>
          </a:prstGeom>
          <a:noFill/>
          <a:ln w="25400">
            <a:solidFill>
              <a:srgbClr val="E0A937"/>
            </a:solidFill>
            <a:prstDash val="solid"/>
          </a:ln>
        </p:spPr>
      </p:sp>
      <p:sp>
        <p:nvSpPr>
          <p:cNvPr id="7" name="Text 5"/>
          <p:cNvSpPr txBox="1"/>
          <p:nvPr/>
        </p:nvSpPr>
        <p:spPr>
          <a:xfrm>
            <a:off x="548640" y="4434840"/>
            <a:ext cx="54864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Questions welcome.</a:t>
            </a:r>
            <a:endParaRPr lang="en-US" sz="1500" dirty="0"/>
          </a:p>
        </p:txBody>
      </p:sp>
      <p:sp>
        <p:nvSpPr>
          <p:cNvPr id="9" name="Text 7"/>
          <p:cNvSpPr txBox="1"/>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6136</TotalTime>
  <Words>4100</Words>
  <Application>Microsoft Office PowerPoint</Application>
  <PresentationFormat>Widescreen</PresentationFormat>
  <Paragraphs>250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I-TECH</cp:lastModifiedBy>
  <cp:revision>17</cp:revision>
  <dcterms:created xsi:type="dcterms:W3CDTF">2026-09-03T09:36:26Z</dcterms:created>
  <dcterms:modified xsi:type="dcterms:W3CDTF">2026-09-07T17:40:10Z</dcterms:modified>
</cp:coreProperties>
</file>